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821" r:id="rId5"/>
    <p:sldId id="272" r:id="rId6"/>
    <p:sldId id="823" r:id="rId7"/>
    <p:sldId id="256" r:id="rId8"/>
    <p:sldId id="257" r:id="rId9"/>
    <p:sldId id="822" r:id="rId1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43DEC-CC25-1670-E428-C9BE0F3D91BC}" v="6" dt="2026-01-19T11:36:31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29"/>
    <p:restoredTop sz="94752"/>
  </p:normalViewPr>
  <p:slideViewPr>
    <p:cSldViewPr snapToGrid="0">
      <p:cViewPr varScale="1">
        <p:scale>
          <a:sx n="110" d="100"/>
          <a:sy n="110" d="100"/>
        </p:scale>
        <p:origin x="17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C47E5-E9C8-0340-84F0-7EF80252EF0E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6A315-4979-A344-B703-D032A2EA5D5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05718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EEE40-52B4-CA4C-9ED3-F79CB806389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08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681D4-12EE-4F86-B358-403217CE87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94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25C1D-EF6E-BE2E-7006-6BBDF8C1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88E43-4089-A78D-E06B-3A4F33441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83E25-9259-C9F4-3096-724526A46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72151-BBB1-5AFF-A3EB-FFE2D6938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681D4-12EE-4F86-B358-403217CE87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23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6A315-4979-A344-B703-D032A2EA5D5D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18759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6A315-4979-A344-B703-D032A2EA5D5D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14781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48772-386B-FFC7-8AC3-B63FCEBC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3AD09-42BD-FC4A-196D-A73B703DD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A3E6F-7279-7735-9D69-FEE595E66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BE0D2-A21D-B149-FAB7-A1CF32CAE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6A315-4979-A344-B703-D032A2EA5D5D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5447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1DFA-0182-9DAA-45A8-2A90AE9C3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B1347-F12C-E550-E78D-908302C6C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5A604-8358-76BC-09BC-1AA49E05F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432FD-1328-4E6B-A73F-C57EA857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498A0-EDF2-625F-2213-21182D349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727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7B461-374E-6087-3273-B8CCFA3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D9461-25BD-AFAC-307D-32729A5AB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72391-DABE-6EAC-0D83-C695CACBF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9A0E-A210-6107-C2C4-4A270390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29949-1E67-1FED-9E58-41EA8E05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00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D50CE-E83D-D3B5-8274-DBBADD48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48EF9-E9BD-40C3-48DA-7F6ED40A8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217D6-0448-1063-C42C-C0E0FC8C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1247E-2706-5823-82A4-FEBC65E8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E74EF-DB84-D165-0332-85E030B4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56764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8D58-4E3F-7312-6D0C-32BC0089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245C-5275-7354-C724-704BC73D7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766A1-8DEB-94A9-9419-B84CDBDFD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6659C-F96D-A5FD-4BAD-CA6D6354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A6C44-6910-AD1C-DD24-834ACB363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D1EE6-4D9D-31DF-020B-7ECDBC20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830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DE5F-A420-752F-64AB-25D03EE3B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E8717-7E82-B8CE-5B0D-53F876CA5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EF70D-396E-BD41-5485-FA05D5593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24E7D-E332-8CEC-A2DC-BE1A0C759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34E11-63A3-1C7C-F340-6A5E2F2EF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B8F745-5019-B295-860C-CAD3BCC1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132F5C-B0AF-5D6A-3C10-DFC9DF92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93F522-43C5-4C6E-BFE9-C6AA82C95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6531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3172-CAAE-5D58-750C-EDAD53A6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26674-AC2A-6B4B-3E9D-F29C0464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3EE4F-E047-2C95-4114-D5B46AE4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F7080-CB52-5811-1BA7-8607ED98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8867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8A87A5-C4A5-B66F-C867-F41D90E80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109C3-099B-7899-9B0A-0A16600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3F44E-7352-540A-58AB-39B1C4DD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8405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B19B-1126-26C1-0983-9637B12E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BE4DC-BABD-2C44-7DF0-7405E6542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E8092-A1A0-AE18-AC95-ACB8200EC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2D721-3B08-949F-690C-72A760A1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BC7C9-3E08-3CE6-8B47-250EE4B5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909BA-1852-FF15-DA65-318D609D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33520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AFEF2-D31B-9950-858F-B00C3C962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C39C0-3927-07AB-6168-A8D45C50D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E99A6-0411-A3A4-2AFD-C909133C4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1DFA9-429D-F330-B8F9-7594EAD2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2D539-3C1F-6E46-BDBB-A2CEEDE3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95B34-CD9E-B69F-F2D3-30B26BE7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7637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DFEAC-98D1-C93A-C00A-5278D54E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8D971-AA13-999F-7134-47EDF0450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09056-0F19-0DB3-C299-FA186C0A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4A8E2-27C9-E93D-01C7-342BB56C7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ECEFE-274E-C454-E8E9-A415F660A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9834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9D42F-CB92-3286-F04B-71379944F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F387D-59C1-0FC1-AED5-32EBBA210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25FDA-821D-BD6C-BCAF-687DE7E47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09FC6-5D48-B9FA-A691-48F4A731D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6F557-A887-7241-D64E-8D5A2A1A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24794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Core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ue triangle on a white surface&#10;&#10;Description automatically generated">
            <a:extLst>
              <a:ext uri="{FF2B5EF4-FFF2-40B4-BE49-F238E27FC236}">
                <a16:creationId xmlns:a16="http://schemas.microsoft.com/office/drawing/2014/main" id="{47C777F8-29F2-5A09-A5D6-F134992C57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1212E2D-15A9-804F-8624-0D27F7233DDB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373" y="4778908"/>
            <a:ext cx="4094589" cy="14538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F29A2D-A30B-AD43-9845-C7205036F5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8647" y="858720"/>
            <a:ext cx="7620223" cy="2137509"/>
          </a:xfrm>
        </p:spPr>
        <p:txBody>
          <a:bodyPr anchor="b">
            <a:noAutofit/>
          </a:bodyPr>
          <a:lstStyle>
            <a:lvl1pPr algn="l">
              <a:defRPr sz="6800">
                <a:solidFill>
                  <a:schemeClr val="tx1"/>
                </a:solidFill>
              </a:defRPr>
            </a:lvl1pPr>
          </a:lstStyle>
          <a:p>
            <a:r>
              <a:rPr lang="en-US"/>
              <a:t>The core of</a:t>
            </a:r>
            <a:br>
              <a:rPr lang="en-US"/>
            </a:br>
            <a:r>
              <a:rPr lang="en-US"/>
              <a:t>identity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61CC3-9A6B-464D-9EFF-DF3A609CA8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647" y="3138228"/>
            <a:ext cx="6440779" cy="654126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FOR THE MODERN ENTERPRISE</a:t>
            </a:r>
          </a:p>
        </p:txBody>
      </p:sp>
    </p:spTree>
    <p:extLst>
      <p:ext uri="{BB962C8B-B14F-4D97-AF65-F5344CB8AC3E}">
        <p14:creationId xmlns:p14="http://schemas.microsoft.com/office/powerpoint/2010/main" val="263836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82124-F4E2-EC2B-A9AD-9B91D63B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6581E-7E76-A6EB-A100-399863223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DDC49-917F-A958-6FC0-AF11218444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2F5E9-FA2B-F34F-BA9F-C3F390285656}" type="datetimeFigureOut">
              <a:rPr lang="en-DE" smtClean="0"/>
              <a:t>05/19/2026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12D7B-D98A-F443-7C7A-1D51987AC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29C39-C4C9-BF8D-7B9D-5B596FE42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85C03-C1CA-244E-B9A9-DD0245A6320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6580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DAD23-8373-1FB4-D66A-B849EB6167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 iLab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3844E-82EE-85C5-BAA4-49E0D8A98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47" y="3138228"/>
            <a:ext cx="6440779" cy="865736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dirty="0">
                <a:latin typeface="Poppins"/>
                <a:cs typeface="Poppins"/>
              </a:rPr>
              <a:t>Image Collection</a:t>
            </a:r>
            <a:endParaRPr lang="en-US" dirty="0">
              <a:solidFill>
                <a:srgbClr val="CC27B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1A185BA-9678-C865-BEA3-DDA39EFB065F}"/>
              </a:ext>
            </a:extLst>
          </p:cNvPr>
          <p:cNvSpPr txBox="1">
            <a:spLocks/>
          </p:cNvSpPr>
          <p:nvPr/>
        </p:nvSpPr>
        <p:spPr>
          <a:xfrm>
            <a:off x="728648" y="4259483"/>
            <a:ext cx="6443257" cy="5092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2800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200"/>
              </a:spcAft>
            </a:pPr>
            <a:endParaRPr lang="en-US" sz="1800" dirty="0">
              <a:latin typeface="Poppins"/>
              <a:cs typeface="Poppins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800" b="1" dirty="0">
                <a:latin typeface="Poppins"/>
                <a:cs typeface="Poppins"/>
              </a:rPr>
              <a:t>Christian Bersch</a:t>
            </a:r>
            <a:r>
              <a:rPr lang="en-US" sz="1800" dirty="0">
                <a:latin typeface="Poppins"/>
                <a:cs typeface="Poppins"/>
              </a:rPr>
              <a:t>, Advisory Solutions Consultant</a:t>
            </a:r>
            <a:endParaRPr lang="en-US" dirty="0"/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US" sz="1800" dirty="0"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9902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2D67-9E43-932C-A0B0-9168D127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55111" cy="1573919"/>
          </a:xfrm>
        </p:spPr>
        <p:txBody>
          <a:bodyPr/>
          <a:lstStyle/>
          <a:p>
            <a:r>
              <a:rPr lang="en-DE"/>
              <a:t>SailPoint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39E9C-485B-512E-E8C5-E6C10385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1038" y="6345555"/>
            <a:ext cx="795361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b="1" i="0" kern="1200">
                <a:solidFill>
                  <a:schemeClr val="bg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9D2152-1C30-894C-9781-951D3C9748D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3BF293-ED31-875B-E287-00A267AE77A9}"/>
              </a:ext>
            </a:extLst>
          </p:cNvPr>
          <p:cNvSpPr txBox="1"/>
          <p:nvPr/>
        </p:nvSpPr>
        <p:spPr>
          <a:xfrm>
            <a:off x="3048856" y="324690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0" i="0">
                <a:solidFill>
                  <a:srgbClr val="000000"/>
                </a:solidFill>
                <a:effectLst/>
                <a:latin typeface="Times"/>
              </a:rPr>
              <a:t> </a:t>
            </a:r>
            <a:endParaRPr lang="en-DE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1EC9324-7D5B-E2AB-51FC-7F5F4B513BB5}"/>
              </a:ext>
            </a:extLst>
          </p:cNvPr>
          <p:cNvGrpSpPr/>
          <p:nvPr/>
        </p:nvGrpSpPr>
        <p:grpSpPr>
          <a:xfrm>
            <a:off x="5047666" y="1162878"/>
            <a:ext cx="6873411" cy="4896899"/>
            <a:chOff x="493159" y="1448655"/>
            <a:chExt cx="6873411" cy="489689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4A97B9-3C1B-60BC-3B17-35E6CD03F80E}"/>
                </a:ext>
              </a:extLst>
            </p:cNvPr>
            <p:cNvSpPr/>
            <p:nvPr/>
          </p:nvSpPr>
          <p:spPr>
            <a:xfrm>
              <a:off x="493159" y="1448655"/>
              <a:ext cx="6873411" cy="48968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AF10E8ED-64C9-CC26-EEBA-8AE26D5FB70A}"/>
                </a:ext>
              </a:extLst>
            </p:cNvPr>
            <p:cNvSpPr/>
            <p:nvPr/>
          </p:nvSpPr>
          <p:spPr>
            <a:xfrm>
              <a:off x="2206076" y="3246902"/>
              <a:ext cx="207932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CE13DC4-A861-965F-2CA1-9761DD10F542}"/>
                </a:ext>
              </a:extLst>
            </p:cNvPr>
            <p:cNvSpPr/>
            <p:nvPr/>
          </p:nvSpPr>
          <p:spPr>
            <a:xfrm>
              <a:off x="1765625" y="4798182"/>
              <a:ext cx="207932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DE" dirty="0">
                  <a:solidFill>
                    <a:schemeClr val="tx1"/>
                  </a:solidFill>
                </a:rPr>
                <a:t>Entitlement 1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FF721EF-47AF-B256-EA47-0AFADAEEF8FB}"/>
                </a:ext>
              </a:extLst>
            </p:cNvPr>
            <p:cNvSpPr/>
            <p:nvPr/>
          </p:nvSpPr>
          <p:spPr>
            <a:xfrm>
              <a:off x="1765624" y="5291916"/>
              <a:ext cx="207932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DE" dirty="0">
                  <a:solidFill>
                    <a:schemeClr val="tx1"/>
                  </a:solidFill>
                </a:rPr>
                <a:t>Entitlement 2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285FBF5-C6A3-7329-BD6D-37A4BDABEF38}"/>
                </a:ext>
              </a:extLst>
            </p:cNvPr>
            <p:cNvSpPr/>
            <p:nvPr/>
          </p:nvSpPr>
          <p:spPr>
            <a:xfrm>
              <a:off x="1765623" y="5785650"/>
              <a:ext cx="207932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DE" dirty="0">
                  <a:solidFill>
                    <a:schemeClr val="tx1"/>
                  </a:solidFill>
                </a:rPr>
                <a:t>Entitlement n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907B4ED-3486-F363-4E2B-41462C2430BA}"/>
                </a:ext>
              </a:extLst>
            </p:cNvPr>
            <p:cNvSpPr/>
            <p:nvPr/>
          </p:nvSpPr>
          <p:spPr>
            <a:xfrm>
              <a:off x="1765621" y="3134308"/>
              <a:ext cx="207932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>
                  <a:solidFill>
                    <a:schemeClr val="tx1"/>
                  </a:solidFill>
                </a:rPr>
                <a:t>Access Profile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6BC4B03-6616-7185-1E8F-11FCB0B26BBC}"/>
                </a:ext>
              </a:extLst>
            </p:cNvPr>
            <p:cNvSpPr/>
            <p:nvPr/>
          </p:nvSpPr>
          <p:spPr>
            <a:xfrm>
              <a:off x="5026561" y="4798182"/>
              <a:ext cx="207932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DE" dirty="0">
                  <a:solidFill>
                    <a:schemeClr val="tx1"/>
                  </a:solidFill>
                </a:rPr>
                <a:t>Entitlement 1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E9E2558C-F5B9-E60C-FC51-5B8E892EE211}"/>
                </a:ext>
              </a:extLst>
            </p:cNvPr>
            <p:cNvSpPr/>
            <p:nvPr/>
          </p:nvSpPr>
          <p:spPr>
            <a:xfrm>
              <a:off x="5026560" y="5291916"/>
              <a:ext cx="207932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DE" dirty="0">
                  <a:solidFill>
                    <a:schemeClr val="tx1"/>
                  </a:solidFill>
                </a:rPr>
                <a:t>Entitlement 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1A7046-53C1-21D6-789C-60D4E980A8DC}"/>
                </a:ext>
              </a:extLst>
            </p:cNvPr>
            <p:cNvSpPr txBox="1"/>
            <p:nvPr/>
          </p:nvSpPr>
          <p:spPr>
            <a:xfrm>
              <a:off x="2201533" y="4327077"/>
              <a:ext cx="1387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>
                  <a:solidFill>
                    <a:schemeClr val="tx2"/>
                  </a:solidFill>
                </a:rPr>
                <a:t>SOURCE 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6AF48A-312F-4A71-98AE-6F49450E84F3}"/>
                </a:ext>
              </a:extLst>
            </p:cNvPr>
            <p:cNvSpPr txBox="1"/>
            <p:nvPr/>
          </p:nvSpPr>
          <p:spPr>
            <a:xfrm>
              <a:off x="5414867" y="4337103"/>
              <a:ext cx="1377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>
                  <a:solidFill>
                    <a:schemeClr val="tx2"/>
                  </a:solidFill>
                </a:rPr>
                <a:t>SOURCE 2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9FF16C6-6D3A-23ED-CE90-E36F20CF368A}"/>
                </a:ext>
              </a:extLst>
            </p:cNvPr>
            <p:cNvCxnSpPr>
              <a:cxnSpLocks/>
              <a:stCxn id="15" idx="2"/>
              <a:endCxn id="18" idx="0"/>
            </p:cNvCxnSpPr>
            <p:nvPr/>
          </p:nvCxnSpPr>
          <p:spPr>
            <a:xfrm>
              <a:off x="2845387" y="3575850"/>
              <a:ext cx="1" cy="74120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229820-A929-9258-5D60-A32E0DB7B512}"/>
                </a:ext>
              </a:extLst>
            </p:cNvPr>
            <p:cNvCxnSpPr>
              <a:stCxn id="15" idx="1"/>
            </p:cNvCxnSpPr>
            <p:nvPr/>
          </p:nvCxnSpPr>
          <p:spPr>
            <a:xfrm flipH="1">
              <a:off x="1164375" y="3355079"/>
              <a:ext cx="6012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E47287F-7B91-6EC3-E5DC-3688C0CC35B2}"/>
                </a:ext>
              </a:extLst>
            </p:cNvPr>
            <p:cNvCxnSpPr>
              <a:cxnSpLocks/>
            </p:cNvCxnSpPr>
            <p:nvPr/>
          </p:nvCxnSpPr>
          <p:spPr>
            <a:xfrm>
              <a:off x="1164375" y="3355079"/>
              <a:ext cx="0" cy="16638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27FE8A-CC0E-47BA-EA65-595CAD5441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375" y="5018953"/>
              <a:ext cx="6012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546972E-ADE4-903C-FBD5-B9D68189A7DF}"/>
                </a:ext>
              </a:extLst>
            </p:cNvPr>
            <p:cNvCxnSpPr>
              <a:cxnSpLocks/>
            </p:cNvCxnSpPr>
            <p:nvPr/>
          </p:nvCxnSpPr>
          <p:spPr>
            <a:xfrm>
              <a:off x="1164375" y="5018953"/>
              <a:ext cx="0" cy="5093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E790F2D-3E63-82BE-8E41-704908B85B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375" y="5510079"/>
              <a:ext cx="6012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677D61-3658-3D81-A9F2-10B18262CBBB}"/>
                </a:ext>
              </a:extLst>
            </p:cNvPr>
            <p:cNvSpPr txBox="1"/>
            <p:nvPr/>
          </p:nvSpPr>
          <p:spPr>
            <a:xfrm>
              <a:off x="1409684" y="3869842"/>
              <a:ext cx="15636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100">
                  <a:solidFill>
                    <a:schemeClr val="tx2"/>
                  </a:solidFill>
                </a:rPr>
                <a:t>1 source per profile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C2A0D5-DC4F-1543-98EE-AA3E7050738A}"/>
                </a:ext>
              </a:extLst>
            </p:cNvPr>
            <p:cNvSpPr txBox="1"/>
            <p:nvPr/>
          </p:nvSpPr>
          <p:spPr>
            <a:xfrm rot="16200000">
              <a:off x="-110786" y="4111634"/>
              <a:ext cx="21424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>
                  <a:solidFill>
                    <a:schemeClr val="tx2"/>
                  </a:solidFill>
                </a:rPr>
                <a:t>n entitlements from 1 source</a:t>
              </a:r>
              <a:endParaRPr lang="en-DE" sz="1100">
                <a:solidFill>
                  <a:schemeClr val="tx2"/>
                </a:solidFill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E36B04C0-68F5-3042-9534-C89148FDCE70}"/>
                </a:ext>
              </a:extLst>
            </p:cNvPr>
            <p:cNvSpPr/>
            <p:nvPr/>
          </p:nvSpPr>
          <p:spPr>
            <a:xfrm>
              <a:off x="1765621" y="1532302"/>
              <a:ext cx="207932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>
                  <a:solidFill>
                    <a:schemeClr val="tx1"/>
                  </a:solidFill>
                </a:rPr>
                <a:t>Roles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BF87D42-68EE-D099-5998-2C1E66A914BD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2805281" y="1989313"/>
              <a:ext cx="1" cy="1144995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5B21B74-E877-AA2D-80EC-DB0D2404A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942" y="1716257"/>
              <a:ext cx="6012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2D7FE9C-B51A-373C-6F76-C82F705C11CE}"/>
                </a:ext>
              </a:extLst>
            </p:cNvPr>
            <p:cNvCxnSpPr>
              <a:cxnSpLocks/>
            </p:cNvCxnSpPr>
            <p:nvPr/>
          </p:nvCxnSpPr>
          <p:spPr>
            <a:xfrm>
              <a:off x="4446188" y="1716257"/>
              <a:ext cx="0" cy="330269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6908179-E096-EDA5-E3B3-ADDA65098A70}"/>
                </a:ext>
              </a:extLst>
            </p:cNvPr>
            <p:cNvCxnSpPr>
              <a:cxnSpLocks/>
              <a:stCxn id="16" idx="1"/>
            </p:cNvCxnSpPr>
            <p:nvPr/>
          </p:nvCxnSpPr>
          <p:spPr>
            <a:xfrm flipH="1">
              <a:off x="4446188" y="5018953"/>
              <a:ext cx="5803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A7BED60-3DB4-4CD5-F78E-E1487C5E81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5815" y="5018953"/>
              <a:ext cx="5803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182A29-B026-A751-E198-C6E740F86E00}"/>
                </a:ext>
              </a:extLst>
            </p:cNvPr>
            <p:cNvSpPr txBox="1"/>
            <p:nvPr/>
          </p:nvSpPr>
          <p:spPr>
            <a:xfrm rot="16200000">
              <a:off x="3581824" y="2934140"/>
              <a:ext cx="21134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>
                  <a:solidFill>
                    <a:schemeClr val="tx2"/>
                  </a:solidFill>
                </a:rPr>
                <a:t>n</a:t>
              </a:r>
              <a:r>
                <a:rPr lang="en-GB" sz="1100">
                  <a:solidFill>
                    <a:schemeClr val="tx2"/>
                  </a:solidFill>
                </a:rPr>
                <a:t> entitlements from </a:t>
              </a:r>
              <a:r>
                <a:rPr lang="en-GB" sz="1100" b="1">
                  <a:solidFill>
                    <a:schemeClr val="tx2"/>
                  </a:solidFill>
                </a:rPr>
                <a:t>n</a:t>
              </a:r>
              <a:r>
                <a:rPr lang="en-GB" sz="1100">
                  <a:solidFill>
                    <a:schemeClr val="tx2"/>
                  </a:solidFill>
                </a:rPr>
                <a:t> source</a:t>
              </a:r>
              <a:endParaRPr lang="en-DE" sz="1100">
                <a:solidFill>
                  <a:schemeClr val="tx2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2A07118-34FD-C14B-8EC2-47B355D2BB41}"/>
                </a:ext>
              </a:extLst>
            </p:cNvPr>
            <p:cNvSpPr txBox="1"/>
            <p:nvPr/>
          </p:nvSpPr>
          <p:spPr>
            <a:xfrm>
              <a:off x="1364290" y="2419422"/>
              <a:ext cx="156364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>
                  <a:solidFill>
                    <a:schemeClr val="tx2"/>
                  </a:solidFill>
                </a:rPr>
                <a:t>c</a:t>
              </a:r>
              <a:r>
                <a:rPr lang="en-DE" sz="1100">
                  <a:solidFill>
                    <a:schemeClr val="tx2"/>
                  </a:solidFill>
                </a:rPr>
                <a:t>an include </a:t>
              </a:r>
              <a:r>
                <a:rPr lang="en-DE" sz="1100" b="1">
                  <a:solidFill>
                    <a:schemeClr val="tx2"/>
                  </a:solidFill>
                </a:rPr>
                <a:t>n</a:t>
              </a:r>
              <a:r>
                <a:rPr lang="en-DE" sz="1100">
                  <a:solidFill>
                    <a:schemeClr val="tx2"/>
                  </a:solidFill>
                </a:rPr>
                <a:t> Access Profiles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D7EE43D-0CED-D502-876A-19F61B413766}"/>
              </a:ext>
            </a:extLst>
          </p:cNvPr>
          <p:cNvGrpSpPr/>
          <p:nvPr/>
        </p:nvGrpSpPr>
        <p:grpSpPr>
          <a:xfrm>
            <a:off x="331193" y="1162878"/>
            <a:ext cx="4332101" cy="4896899"/>
            <a:chOff x="7570038" y="1448654"/>
            <a:chExt cx="4332101" cy="48968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7B3A5EC-ED32-B511-CAAC-BFDCA04E1D8D}"/>
                </a:ext>
              </a:extLst>
            </p:cNvPr>
            <p:cNvSpPr/>
            <p:nvPr/>
          </p:nvSpPr>
          <p:spPr>
            <a:xfrm>
              <a:off x="7570038" y="1448654"/>
              <a:ext cx="4332101" cy="48968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9C63DAFA-E676-ABC6-0E12-3BD1396D1793}"/>
                </a:ext>
              </a:extLst>
            </p:cNvPr>
            <p:cNvSpPr/>
            <p:nvPr/>
          </p:nvSpPr>
          <p:spPr>
            <a:xfrm>
              <a:off x="8576987" y="2072440"/>
              <a:ext cx="249510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>
                  <a:solidFill>
                    <a:schemeClr val="tx1"/>
                  </a:solidFill>
                </a:rPr>
                <a:t>Identity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6628F14A-2535-7EB3-FAF2-690218EC895F}"/>
                </a:ext>
              </a:extLst>
            </p:cNvPr>
            <p:cNvSpPr/>
            <p:nvPr/>
          </p:nvSpPr>
          <p:spPr>
            <a:xfrm>
              <a:off x="8992766" y="2673124"/>
              <a:ext cx="2079321" cy="261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Accounts</a:t>
              </a:r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5BE92D5A-6B6E-7E6C-2654-D9E0D1AD8072}"/>
                </a:ext>
              </a:extLst>
            </p:cNvPr>
            <p:cNvSpPr/>
            <p:nvPr/>
          </p:nvSpPr>
          <p:spPr>
            <a:xfrm>
              <a:off x="8984417" y="3402908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Access Profiles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5CE7F5F-73D5-AE6A-35FF-6E73100BA219}"/>
                </a:ext>
              </a:extLst>
            </p:cNvPr>
            <p:cNvSpPr/>
            <p:nvPr/>
          </p:nvSpPr>
          <p:spPr>
            <a:xfrm>
              <a:off x="8984416" y="3754815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Roles</a:t>
              </a: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C7ACD010-28E0-2624-D893-751BF4993694}"/>
                </a:ext>
              </a:extLst>
            </p:cNvPr>
            <p:cNvSpPr/>
            <p:nvPr/>
          </p:nvSpPr>
          <p:spPr>
            <a:xfrm>
              <a:off x="8984415" y="4109588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Entitlements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0FDFB0E1-E8F1-D5EC-EBA6-F340E9E69458}"/>
                </a:ext>
              </a:extLst>
            </p:cNvPr>
            <p:cNvSpPr/>
            <p:nvPr/>
          </p:nvSpPr>
          <p:spPr>
            <a:xfrm>
              <a:off x="8984414" y="4676331"/>
              <a:ext cx="2079321" cy="2612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Events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1C15670A-5060-DBC6-8E25-FA32B84D3186}"/>
                </a:ext>
              </a:extLst>
            </p:cNvPr>
            <p:cNvSpPr/>
            <p:nvPr/>
          </p:nvSpPr>
          <p:spPr>
            <a:xfrm>
              <a:off x="8992766" y="3041600"/>
              <a:ext cx="2079321" cy="261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Access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37482128-CC03-35EE-5C1B-F26CCC37FBE5}"/>
                </a:ext>
              </a:extLst>
            </p:cNvPr>
            <p:cNvSpPr/>
            <p:nvPr/>
          </p:nvSpPr>
          <p:spPr>
            <a:xfrm>
              <a:off x="8984413" y="5040652"/>
              <a:ext cx="2079321" cy="2697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Ownership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29F5261A-DF01-308B-8FD6-47434EED4FF2}"/>
                </a:ext>
              </a:extLst>
            </p:cNvPr>
            <p:cNvSpPr/>
            <p:nvPr/>
          </p:nvSpPr>
          <p:spPr>
            <a:xfrm>
              <a:off x="8992766" y="5429106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Machine accounts</a:t>
              </a:r>
            </a:p>
          </p:txBody>
        </p:sp>
      </p:grpSp>
      <p:pic>
        <p:nvPicPr>
          <p:cNvPr id="55" name="Graphic 54" descr="Fingerprint">
            <a:extLst>
              <a:ext uri="{FF2B5EF4-FFF2-40B4-BE49-F238E27FC236}">
                <a16:creationId xmlns:a16="http://schemas.microsoft.com/office/drawing/2014/main" id="{BCF8B3B0-85F2-E518-5219-F6CAFC5F87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66" y="1680703"/>
            <a:ext cx="691702" cy="691702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9F1CC1B-F644-5827-8EC2-B3CC32CE5BDC}"/>
              </a:ext>
            </a:extLst>
          </p:cNvPr>
          <p:cNvCxnSpPr/>
          <p:nvPr/>
        </p:nvCxnSpPr>
        <p:spPr>
          <a:xfrm>
            <a:off x="1646296" y="2405328"/>
            <a:ext cx="0" cy="301761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Left Brace 2">
            <a:extLst>
              <a:ext uri="{FF2B5EF4-FFF2-40B4-BE49-F238E27FC236}">
                <a16:creationId xmlns:a16="http://schemas.microsoft.com/office/drawing/2014/main" id="{0F977521-51A3-F209-E734-C45D4433360B}"/>
              </a:ext>
            </a:extLst>
          </p:cNvPr>
          <p:cNvSpPr/>
          <p:nvPr/>
        </p:nvSpPr>
        <p:spPr>
          <a:xfrm rot="10800000">
            <a:off x="3935477" y="3163711"/>
            <a:ext cx="1239181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85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610CC-3067-80D2-BDC9-4164992A4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8419-7CAC-B4D3-230D-DA9FED186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55111" cy="1573919"/>
          </a:xfrm>
        </p:spPr>
        <p:txBody>
          <a:bodyPr/>
          <a:lstStyle/>
          <a:p>
            <a:r>
              <a:rPr lang="en-DE"/>
              <a:t>SailPoint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B62CA-17F9-76E7-5EEC-D774C02F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1038" y="6345555"/>
            <a:ext cx="795361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b="1" i="0" kern="1200">
                <a:solidFill>
                  <a:schemeClr val="bg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9D2152-1C30-894C-9781-951D3C9748D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0DC34-151C-4CFE-6060-06401AF8B996}"/>
              </a:ext>
            </a:extLst>
          </p:cNvPr>
          <p:cNvSpPr txBox="1"/>
          <p:nvPr/>
        </p:nvSpPr>
        <p:spPr>
          <a:xfrm>
            <a:off x="3048856" y="324690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0" i="0">
                <a:solidFill>
                  <a:srgbClr val="000000"/>
                </a:solidFill>
                <a:effectLst/>
                <a:latin typeface="Times"/>
              </a:rPr>
              <a:t> </a:t>
            </a:r>
            <a:endParaRPr lang="en-DE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91368B4-A865-CC45-9217-EFB6008E31D6}"/>
              </a:ext>
            </a:extLst>
          </p:cNvPr>
          <p:cNvGrpSpPr/>
          <p:nvPr/>
        </p:nvGrpSpPr>
        <p:grpSpPr>
          <a:xfrm>
            <a:off x="7296437" y="1168522"/>
            <a:ext cx="4332101" cy="4896899"/>
            <a:chOff x="7570038" y="1448654"/>
            <a:chExt cx="4332101" cy="48968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EDE62D5-B269-BC56-FD4E-F4FDAF0B062F}"/>
                </a:ext>
              </a:extLst>
            </p:cNvPr>
            <p:cNvSpPr/>
            <p:nvPr/>
          </p:nvSpPr>
          <p:spPr>
            <a:xfrm>
              <a:off x="7570038" y="1448654"/>
              <a:ext cx="4332101" cy="48968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7CB92C9B-FE41-42F6-BA65-09093D7B9F7B}"/>
                </a:ext>
              </a:extLst>
            </p:cNvPr>
            <p:cNvSpPr/>
            <p:nvPr/>
          </p:nvSpPr>
          <p:spPr>
            <a:xfrm>
              <a:off x="8576987" y="2072440"/>
              <a:ext cx="249510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>
                  <a:solidFill>
                    <a:schemeClr val="tx1"/>
                  </a:solidFill>
                </a:rPr>
                <a:t>Identity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9CCE907B-9DBC-C53A-2516-6831738D7B6A}"/>
                </a:ext>
              </a:extLst>
            </p:cNvPr>
            <p:cNvSpPr/>
            <p:nvPr/>
          </p:nvSpPr>
          <p:spPr>
            <a:xfrm>
              <a:off x="8992766" y="2673124"/>
              <a:ext cx="2079321" cy="261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Accounts</a:t>
              </a:r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E821FB18-E276-4332-DC7F-7D238D4ABB0E}"/>
                </a:ext>
              </a:extLst>
            </p:cNvPr>
            <p:cNvSpPr/>
            <p:nvPr/>
          </p:nvSpPr>
          <p:spPr>
            <a:xfrm>
              <a:off x="8984417" y="3402908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Access Profiles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73AC909F-3D57-9FB9-9E5B-41BC4FC25DC3}"/>
                </a:ext>
              </a:extLst>
            </p:cNvPr>
            <p:cNvSpPr/>
            <p:nvPr/>
          </p:nvSpPr>
          <p:spPr>
            <a:xfrm>
              <a:off x="8984416" y="3754815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Roles</a:t>
              </a: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E3AB2CAC-754A-ADCD-A5B7-30EBE21D97DB}"/>
                </a:ext>
              </a:extLst>
            </p:cNvPr>
            <p:cNvSpPr/>
            <p:nvPr/>
          </p:nvSpPr>
          <p:spPr>
            <a:xfrm>
              <a:off x="8984415" y="4109588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Entitlements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AA8DA51E-A791-6A6F-2D43-697FCD5413BF}"/>
                </a:ext>
              </a:extLst>
            </p:cNvPr>
            <p:cNvSpPr/>
            <p:nvPr/>
          </p:nvSpPr>
          <p:spPr>
            <a:xfrm>
              <a:off x="8984414" y="4676331"/>
              <a:ext cx="2079321" cy="2612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Events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1223E106-9EB7-D04D-553F-769CD70D65FF}"/>
                </a:ext>
              </a:extLst>
            </p:cNvPr>
            <p:cNvSpPr/>
            <p:nvPr/>
          </p:nvSpPr>
          <p:spPr>
            <a:xfrm>
              <a:off x="8992766" y="3041600"/>
              <a:ext cx="2079321" cy="261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Access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FBD1A74-FB8D-8DD9-8D83-918B12B3C096}"/>
                </a:ext>
              </a:extLst>
            </p:cNvPr>
            <p:cNvSpPr/>
            <p:nvPr/>
          </p:nvSpPr>
          <p:spPr>
            <a:xfrm>
              <a:off x="8984413" y="5040652"/>
              <a:ext cx="2079321" cy="2697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Ownership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EFD61AB0-7A9F-79DD-0CE2-16F3C4BE1457}"/>
                </a:ext>
              </a:extLst>
            </p:cNvPr>
            <p:cNvSpPr/>
            <p:nvPr/>
          </p:nvSpPr>
          <p:spPr>
            <a:xfrm>
              <a:off x="8992766" y="5429106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Machine accounts</a:t>
              </a:r>
            </a:p>
          </p:txBody>
        </p:sp>
      </p:grpSp>
      <p:pic>
        <p:nvPicPr>
          <p:cNvPr id="55" name="Graphic 54" descr="Fingerprint">
            <a:extLst>
              <a:ext uri="{FF2B5EF4-FFF2-40B4-BE49-F238E27FC236}">
                <a16:creationId xmlns:a16="http://schemas.microsoft.com/office/drawing/2014/main" id="{41C25125-D162-2D1E-19FF-8CC9FAF9AA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8133" y="1607325"/>
            <a:ext cx="691702" cy="691702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B13D9C7-6097-09BB-D383-A4D59DD7D7AA}"/>
              </a:ext>
            </a:extLst>
          </p:cNvPr>
          <p:cNvCxnSpPr/>
          <p:nvPr/>
        </p:nvCxnSpPr>
        <p:spPr>
          <a:xfrm>
            <a:off x="1110074" y="2247283"/>
            <a:ext cx="0" cy="301761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9EF9F78-5BF7-0854-391E-9790F817278F}"/>
              </a:ext>
            </a:extLst>
          </p:cNvPr>
          <p:cNvGrpSpPr/>
          <p:nvPr/>
        </p:nvGrpSpPr>
        <p:grpSpPr>
          <a:xfrm>
            <a:off x="77192" y="1112078"/>
            <a:ext cx="4332101" cy="4896899"/>
            <a:chOff x="7570038" y="1448654"/>
            <a:chExt cx="4332101" cy="489689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4689D75-EE32-EF13-311B-022900EED90B}"/>
                </a:ext>
              </a:extLst>
            </p:cNvPr>
            <p:cNvSpPr/>
            <p:nvPr/>
          </p:nvSpPr>
          <p:spPr>
            <a:xfrm>
              <a:off x="7570038" y="1448654"/>
              <a:ext cx="4332101" cy="48968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61" name="Rounded Rectangle 43">
              <a:extLst>
                <a:ext uri="{FF2B5EF4-FFF2-40B4-BE49-F238E27FC236}">
                  <a16:creationId xmlns:a16="http://schemas.microsoft.com/office/drawing/2014/main" id="{E8368D1A-A554-DB13-A2FE-E915A23B4E3D}"/>
                </a:ext>
              </a:extLst>
            </p:cNvPr>
            <p:cNvSpPr/>
            <p:nvPr/>
          </p:nvSpPr>
          <p:spPr>
            <a:xfrm>
              <a:off x="8576987" y="2072440"/>
              <a:ext cx="2495101" cy="4415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DE" b="1" dirty="0">
                  <a:solidFill>
                    <a:schemeClr val="tx1"/>
                  </a:solidFill>
                </a:rPr>
                <a:t>Machine Identity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Rounded Rectangle 44">
              <a:extLst>
                <a:ext uri="{FF2B5EF4-FFF2-40B4-BE49-F238E27FC236}">
                  <a16:creationId xmlns:a16="http://schemas.microsoft.com/office/drawing/2014/main" id="{5CD1332E-4007-B68C-E154-E08401BDB97D}"/>
                </a:ext>
              </a:extLst>
            </p:cNvPr>
            <p:cNvSpPr/>
            <p:nvPr/>
          </p:nvSpPr>
          <p:spPr>
            <a:xfrm>
              <a:off x="8992766" y="2673124"/>
              <a:ext cx="2079321" cy="261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Accounts</a:t>
              </a:r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63" name="Rounded Rectangle 45">
              <a:extLst>
                <a:ext uri="{FF2B5EF4-FFF2-40B4-BE49-F238E27FC236}">
                  <a16:creationId xmlns:a16="http://schemas.microsoft.com/office/drawing/2014/main" id="{903F7CEA-8341-EB09-522D-6DAE5F2FC151}"/>
                </a:ext>
              </a:extLst>
            </p:cNvPr>
            <p:cNvSpPr/>
            <p:nvPr/>
          </p:nvSpPr>
          <p:spPr>
            <a:xfrm>
              <a:off x="8984417" y="3402908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Access Profiles</a:t>
              </a:r>
            </a:p>
          </p:txBody>
        </p:sp>
        <p:sp>
          <p:nvSpPr>
            <p:cNvPr id="64" name="Rounded Rectangle 46">
              <a:extLst>
                <a:ext uri="{FF2B5EF4-FFF2-40B4-BE49-F238E27FC236}">
                  <a16:creationId xmlns:a16="http://schemas.microsoft.com/office/drawing/2014/main" id="{DF6021B9-084F-81D8-1B74-751CB755C3EE}"/>
                </a:ext>
              </a:extLst>
            </p:cNvPr>
            <p:cNvSpPr/>
            <p:nvPr/>
          </p:nvSpPr>
          <p:spPr>
            <a:xfrm>
              <a:off x="8984416" y="3754815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Roles</a:t>
              </a:r>
            </a:p>
          </p:txBody>
        </p:sp>
        <p:sp>
          <p:nvSpPr>
            <p:cNvPr id="65" name="Rounded Rectangle 47">
              <a:extLst>
                <a:ext uri="{FF2B5EF4-FFF2-40B4-BE49-F238E27FC236}">
                  <a16:creationId xmlns:a16="http://schemas.microsoft.com/office/drawing/2014/main" id="{E54E94F4-11FC-1B67-E071-F290ED5C375B}"/>
                </a:ext>
              </a:extLst>
            </p:cNvPr>
            <p:cNvSpPr/>
            <p:nvPr/>
          </p:nvSpPr>
          <p:spPr>
            <a:xfrm>
              <a:off x="8984415" y="4109588"/>
              <a:ext cx="2079321" cy="26162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bg1"/>
                  </a:solidFill>
                </a:rPr>
                <a:t>Entitlements</a:t>
              </a:r>
            </a:p>
          </p:txBody>
        </p:sp>
        <p:sp>
          <p:nvSpPr>
            <p:cNvPr id="66" name="Rounded Rectangle 48">
              <a:extLst>
                <a:ext uri="{FF2B5EF4-FFF2-40B4-BE49-F238E27FC236}">
                  <a16:creationId xmlns:a16="http://schemas.microsoft.com/office/drawing/2014/main" id="{5EFDBCF8-E090-BC57-BF2B-C4FB42B9A49F}"/>
                </a:ext>
              </a:extLst>
            </p:cNvPr>
            <p:cNvSpPr/>
            <p:nvPr/>
          </p:nvSpPr>
          <p:spPr>
            <a:xfrm>
              <a:off x="8984414" y="4676331"/>
              <a:ext cx="2079321" cy="2612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Events</a:t>
              </a:r>
            </a:p>
          </p:txBody>
        </p:sp>
        <p:sp>
          <p:nvSpPr>
            <p:cNvPr id="67" name="Rounded Rectangle 49">
              <a:extLst>
                <a:ext uri="{FF2B5EF4-FFF2-40B4-BE49-F238E27FC236}">
                  <a16:creationId xmlns:a16="http://schemas.microsoft.com/office/drawing/2014/main" id="{6EA36985-7C9D-9BA3-2954-91A177EE5731}"/>
                </a:ext>
              </a:extLst>
            </p:cNvPr>
            <p:cNvSpPr/>
            <p:nvPr/>
          </p:nvSpPr>
          <p:spPr>
            <a:xfrm>
              <a:off x="8992766" y="3041600"/>
              <a:ext cx="2079321" cy="261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Access</a:t>
              </a:r>
            </a:p>
          </p:txBody>
        </p:sp>
      </p:grpSp>
      <p:pic>
        <p:nvPicPr>
          <p:cNvPr id="70" name="Picture 69" descr="A blue and black logo&#10;&#10;AI-generated content may be incorrect.">
            <a:extLst>
              <a:ext uri="{FF2B5EF4-FFF2-40B4-BE49-F238E27FC236}">
                <a16:creationId xmlns:a16="http://schemas.microsoft.com/office/drawing/2014/main" id="{7B96FDC5-9B59-B376-D26B-DBFE72FAD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08" y="1460499"/>
            <a:ext cx="1009650" cy="990600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2DA1715-6855-98FE-C842-C6CBEF79D4FE}"/>
              </a:ext>
            </a:extLst>
          </p:cNvPr>
          <p:cNvCxnSpPr>
            <a:cxnSpLocks/>
          </p:cNvCxnSpPr>
          <p:nvPr/>
        </p:nvCxnSpPr>
        <p:spPr>
          <a:xfrm flipV="1">
            <a:off x="3571053" y="2391874"/>
            <a:ext cx="2748844" cy="781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44">
            <a:extLst>
              <a:ext uri="{FF2B5EF4-FFF2-40B4-BE49-F238E27FC236}">
                <a16:creationId xmlns:a16="http://schemas.microsoft.com/office/drawing/2014/main" id="{80B27B71-2BB5-82B0-3388-4F1B328DFED4}"/>
              </a:ext>
            </a:extLst>
          </p:cNvPr>
          <p:cNvSpPr/>
          <p:nvPr/>
        </p:nvSpPr>
        <p:spPr>
          <a:xfrm>
            <a:off x="5208320" y="2799392"/>
            <a:ext cx="2079321" cy="261628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DE" sz="1400">
                <a:solidFill>
                  <a:schemeClr val="tx1"/>
                </a:solidFill>
              </a:rPr>
              <a:t>Service Account 1</a:t>
            </a:r>
            <a:endParaRPr lang="en-DE">
              <a:solidFill>
                <a:schemeClr val="tx1"/>
              </a:solidFill>
            </a:endParaRPr>
          </a:p>
        </p:txBody>
      </p:sp>
      <p:sp>
        <p:nvSpPr>
          <p:cNvPr id="74" name="Rounded Rectangle 44">
            <a:extLst>
              <a:ext uri="{FF2B5EF4-FFF2-40B4-BE49-F238E27FC236}">
                <a16:creationId xmlns:a16="http://schemas.microsoft.com/office/drawing/2014/main" id="{91263A08-3ACE-55C9-0B07-47F896A2E8E2}"/>
              </a:ext>
            </a:extLst>
          </p:cNvPr>
          <p:cNvSpPr/>
          <p:nvPr/>
        </p:nvSpPr>
        <p:spPr>
          <a:xfrm>
            <a:off x="5219609" y="3115481"/>
            <a:ext cx="2079321" cy="261628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DE" sz="1400" dirty="0" err="1">
                <a:solidFill>
                  <a:schemeClr val="tx1"/>
                </a:solidFill>
              </a:rPr>
              <a:t>ChatBot</a:t>
            </a:r>
            <a:r>
              <a:rPr lang="en-DE" sz="1400">
                <a:solidFill>
                  <a:schemeClr val="tx1"/>
                </a:solidFill>
              </a:rPr>
              <a:t> 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Rounded Rectangle 44">
            <a:extLst>
              <a:ext uri="{FF2B5EF4-FFF2-40B4-BE49-F238E27FC236}">
                <a16:creationId xmlns:a16="http://schemas.microsoft.com/office/drawing/2014/main" id="{E1A5BDCA-B15D-3EDB-B426-1921C33CFD0F}"/>
              </a:ext>
            </a:extLst>
          </p:cNvPr>
          <p:cNvSpPr/>
          <p:nvPr/>
        </p:nvSpPr>
        <p:spPr>
          <a:xfrm>
            <a:off x="5208320" y="3431570"/>
            <a:ext cx="2079321" cy="261628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DE" sz="1400">
                <a:solidFill>
                  <a:schemeClr val="tx1"/>
                </a:solidFill>
              </a:rPr>
              <a:t>IOT Device 1</a:t>
            </a:r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92E8F83-0E2F-A451-390C-F698A8E5631E}"/>
              </a:ext>
            </a:extLst>
          </p:cNvPr>
          <p:cNvCxnSpPr>
            <a:cxnSpLocks/>
          </p:cNvCxnSpPr>
          <p:nvPr/>
        </p:nvCxnSpPr>
        <p:spPr>
          <a:xfrm flipH="1" flipV="1">
            <a:off x="6246520" y="3757828"/>
            <a:ext cx="22575" cy="1593902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E5AE45B-F942-D560-7D49-04CEFA8F2F89}"/>
              </a:ext>
            </a:extLst>
          </p:cNvPr>
          <p:cNvCxnSpPr>
            <a:cxnSpLocks/>
          </p:cNvCxnSpPr>
          <p:nvPr/>
        </p:nvCxnSpPr>
        <p:spPr>
          <a:xfrm flipH="1">
            <a:off x="6257810" y="5346085"/>
            <a:ext cx="2421464" cy="912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Left Bracket 78">
            <a:extLst>
              <a:ext uri="{FF2B5EF4-FFF2-40B4-BE49-F238E27FC236}">
                <a16:creationId xmlns:a16="http://schemas.microsoft.com/office/drawing/2014/main" id="{27B627E1-A3AF-2429-EC8E-10B7583574C5}"/>
              </a:ext>
            </a:extLst>
          </p:cNvPr>
          <p:cNvSpPr/>
          <p:nvPr/>
        </p:nvSpPr>
        <p:spPr>
          <a:xfrm rot="5400000">
            <a:off x="6154322" y="1700741"/>
            <a:ext cx="202974" cy="1998133"/>
          </a:xfrm>
          <a:prstGeom prst="leftBracke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1FDCCAC-8383-79D1-C421-16A934E4FC36}"/>
              </a:ext>
            </a:extLst>
          </p:cNvPr>
          <p:cNvCxnSpPr>
            <a:cxnSpLocks/>
          </p:cNvCxnSpPr>
          <p:nvPr/>
        </p:nvCxnSpPr>
        <p:spPr>
          <a:xfrm flipH="1">
            <a:off x="10965274" y="2275506"/>
            <a:ext cx="0" cy="319258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F90BF91-C94D-89B7-AD92-CD3EFB7A605A}"/>
              </a:ext>
            </a:extLst>
          </p:cNvPr>
          <p:cNvCxnSpPr>
            <a:cxnSpLocks/>
          </p:cNvCxnSpPr>
          <p:nvPr/>
        </p:nvCxnSpPr>
        <p:spPr>
          <a:xfrm flipV="1">
            <a:off x="6291672" y="2425741"/>
            <a:ext cx="5" cy="15456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7061B22-D773-706F-1401-9D106ABD62B9}"/>
              </a:ext>
            </a:extLst>
          </p:cNvPr>
          <p:cNvCxnSpPr>
            <a:cxnSpLocks/>
          </p:cNvCxnSpPr>
          <p:nvPr/>
        </p:nvCxnSpPr>
        <p:spPr>
          <a:xfrm>
            <a:off x="1375363" y="2377105"/>
            <a:ext cx="11288" cy="221045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84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386CE7C-E713-ED7E-2E55-5197171CD4B6}"/>
              </a:ext>
            </a:extLst>
          </p:cNvPr>
          <p:cNvSpPr/>
          <p:nvPr/>
        </p:nvSpPr>
        <p:spPr>
          <a:xfrm>
            <a:off x="3196177" y="3230532"/>
            <a:ext cx="207932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D8D0EA-B71F-5E99-E527-7B7E1E7C51B9}"/>
              </a:ext>
            </a:extLst>
          </p:cNvPr>
          <p:cNvSpPr/>
          <p:nvPr/>
        </p:nvSpPr>
        <p:spPr>
          <a:xfrm>
            <a:off x="2755726" y="4781812"/>
            <a:ext cx="207932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Entitlement 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3F26187-9737-42F7-1578-46ED538B0B3B}"/>
              </a:ext>
            </a:extLst>
          </p:cNvPr>
          <p:cNvSpPr/>
          <p:nvPr/>
        </p:nvSpPr>
        <p:spPr>
          <a:xfrm>
            <a:off x="2755725" y="5275546"/>
            <a:ext cx="207932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Entitlement 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620B760-3004-1E0F-AFBC-85F68A27089B}"/>
              </a:ext>
            </a:extLst>
          </p:cNvPr>
          <p:cNvSpPr/>
          <p:nvPr/>
        </p:nvSpPr>
        <p:spPr>
          <a:xfrm>
            <a:off x="2755724" y="5769280"/>
            <a:ext cx="207932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Entitlement 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33DD70A-5197-81F9-E86D-C3FF67189ED8}"/>
              </a:ext>
            </a:extLst>
          </p:cNvPr>
          <p:cNvSpPr/>
          <p:nvPr/>
        </p:nvSpPr>
        <p:spPr>
          <a:xfrm>
            <a:off x="2755722" y="3117938"/>
            <a:ext cx="207932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Access Profile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37F8ED-7F2F-1B57-56D1-5753FD92ECBE}"/>
              </a:ext>
            </a:extLst>
          </p:cNvPr>
          <p:cNvSpPr/>
          <p:nvPr/>
        </p:nvSpPr>
        <p:spPr>
          <a:xfrm>
            <a:off x="6016662" y="4781812"/>
            <a:ext cx="207932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Entitlement 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067922-96E4-D6E7-4A6E-903863763753}"/>
              </a:ext>
            </a:extLst>
          </p:cNvPr>
          <p:cNvSpPr/>
          <p:nvPr/>
        </p:nvSpPr>
        <p:spPr>
          <a:xfrm>
            <a:off x="6016661" y="5275546"/>
            <a:ext cx="207932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Entitlement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822A0-8AB0-D863-F558-709623D88EE4}"/>
              </a:ext>
            </a:extLst>
          </p:cNvPr>
          <p:cNvSpPr txBox="1"/>
          <p:nvPr/>
        </p:nvSpPr>
        <p:spPr>
          <a:xfrm>
            <a:off x="3191634" y="4310707"/>
            <a:ext cx="138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tx2"/>
                </a:solidFill>
              </a:rPr>
              <a:t>SOURCE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B5C599-C25E-28F1-CA40-F0350C572231}"/>
              </a:ext>
            </a:extLst>
          </p:cNvPr>
          <p:cNvSpPr txBox="1"/>
          <p:nvPr/>
        </p:nvSpPr>
        <p:spPr>
          <a:xfrm>
            <a:off x="6404968" y="4320733"/>
            <a:ext cx="1377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tx2"/>
                </a:solidFill>
              </a:rPr>
              <a:t>SOURCE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A1691F-E7AA-EE71-BB32-CDE58D73590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3835488" y="3559480"/>
            <a:ext cx="1" cy="74120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4BF790-EE69-E2A2-DF28-11DDF2D2E372}"/>
              </a:ext>
            </a:extLst>
          </p:cNvPr>
          <p:cNvCxnSpPr>
            <a:stCxn id="7" idx="1"/>
          </p:cNvCxnSpPr>
          <p:nvPr/>
        </p:nvCxnSpPr>
        <p:spPr>
          <a:xfrm flipH="1">
            <a:off x="2154476" y="3338709"/>
            <a:ext cx="6012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3766536-4592-37D4-3868-082DCE8BA0AF}"/>
              </a:ext>
            </a:extLst>
          </p:cNvPr>
          <p:cNvCxnSpPr>
            <a:cxnSpLocks/>
          </p:cNvCxnSpPr>
          <p:nvPr/>
        </p:nvCxnSpPr>
        <p:spPr>
          <a:xfrm>
            <a:off x="2154476" y="3338709"/>
            <a:ext cx="0" cy="16638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9788E2-4F27-CE7C-583C-FC06F77EE305}"/>
              </a:ext>
            </a:extLst>
          </p:cNvPr>
          <p:cNvCxnSpPr/>
          <p:nvPr/>
        </p:nvCxnSpPr>
        <p:spPr>
          <a:xfrm flipH="1">
            <a:off x="2154476" y="5002583"/>
            <a:ext cx="6012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61251D-AA1E-2222-6E5C-BD8D996D5158}"/>
              </a:ext>
            </a:extLst>
          </p:cNvPr>
          <p:cNvCxnSpPr>
            <a:cxnSpLocks/>
          </p:cNvCxnSpPr>
          <p:nvPr/>
        </p:nvCxnSpPr>
        <p:spPr>
          <a:xfrm>
            <a:off x="2154476" y="5002583"/>
            <a:ext cx="0" cy="5093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08D092-9B2D-FFD2-CBAE-CE0DA6BEE27F}"/>
              </a:ext>
            </a:extLst>
          </p:cNvPr>
          <p:cNvCxnSpPr/>
          <p:nvPr/>
        </p:nvCxnSpPr>
        <p:spPr>
          <a:xfrm flipH="1">
            <a:off x="2154476" y="5493709"/>
            <a:ext cx="6012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3C60DC2-8336-E237-EE9C-D435FDB35F19}"/>
              </a:ext>
            </a:extLst>
          </p:cNvPr>
          <p:cNvSpPr txBox="1"/>
          <p:nvPr/>
        </p:nvSpPr>
        <p:spPr>
          <a:xfrm>
            <a:off x="2399785" y="3853472"/>
            <a:ext cx="1563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100" dirty="0">
                <a:solidFill>
                  <a:schemeClr val="tx2"/>
                </a:solidFill>
              </a:rPr>
              <a:t>1 source per profile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6F9E8C-7B82-076B-81F8-3956373AFBE4}"/>
              </a:ext>
            </a:extLst>
          </p:cNvPr>
          <p:cNvSpPr txBox="1"/>
          <p:nvPr/>
        </p:nvSpPr>
        <p:spPr>
          <a:xfrm rot="16200000">
            <a:off x="879315" y="4179902"/>
            <a:ext cx="21424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tx2"/>
                </a:solidFill>
              </a:rPr>
              <a:t>n entitlements from 1 source</a:t>
            </a:r>
            <a:endParaRPr lang="en-DE" sz="1100" dirty="0">
              <a:solidFill>
                <a:schemeClr val="tx2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29EF0CB-C2B2-A6D2-BBE2-763F7664734D}"/>
              </a:ext>
            </a:extLst>
          </p:cNvPr>
          <p:cNvSpPr/>
          <p:nvPr/>
        </p:nvSpPr>
        <p:spPr>
          <a:xfrm>
            <a:off x="2755722" y="1515932"/>
            <a:ext cx="207932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Roles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21588A-DFD6-6540-C572-6D77A1896E0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795382" y="1972943"/>
            <a:ext cx="1" cy="114499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78D95A2-2486-2CCC-D45F-B36365590CFF}"/>
              </a:ext>
            </a:extLst>
          </p:cNvPr>
          <p:cNvCxnSpPr/>
          <p:nvPr/>
        </p:nvCxnSpPr>
        <p:spPr>
          <a:xfrm flipH="1">
            <a:off x="4835043" y="1699887"/>
            <a:ext cx="6012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B06BED2-6773-C271-64D7-515170665B0F}"/>
              </a:ext>
            </a:extLst>
          </p:cNvPr>
          <p:cNvCxnSpPr>
            <a:cxnSpLocks/>
          </p:cNvCxnSpPr>
          <p:nvPr/>
        </p:nvCxnSpPr>
        <p:spPr>
          <a:xfrm>
            <a:off x="5436289" y="1699887"/>
            <a:ext cx="0" cy="33026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8DFE5B4-6A89-35AE-68D4-909994271FC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436289" y="5002583"/>
            <a:ext cx="5803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A852E2-576E-FEED-1EA5-3F28796F3628}"/>
              </a:ext>
            </a:extLst>
          </p:cNvPr>
          <p:cNvCxnSpPr>
            <a:cxnSpLocks/>
          </p:cNvCxnSpPr>
          <p:nvPr/>
        </p:nvCxnSpPr>
        <p:spPr>
          <a:xfrm flipH="1">
            <a:off x="4855916" y="5002583"/>
            <a:ext cx="5803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D409905-526C-79B5-83C3-145D27CD4E1E}"/>
              </a:ext>
            </a:extLst>
          </p:cNvPr>
          <p:cNvSpPr txBox="1"/>
          <p:nvPr/>
        </p:nvSpPr>
        <p:spPr>
          <a:xfrm rot="16200000">
            <a:off x="4571925" y="3002408"/>
            <a:ext cx="2113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tx2"/>
                </a:solidFill>
              </a:rPr>
              <a:t>n</a:t>
            </a:r>
            <a:r>
              <a:rPr lang="en-GB" sz="1100" dirty="0">
                <a:solidFill>
                  <a:schemeClr val="tx2"/>
                </a:solidFill>
              </a:rPr>
              <a:t> entitlements from </a:t>
            </a:r>
            <a:r>
              <a:rPr lang="en-GB" sz="1100" b="1" dirty="0">
                <a:solidFill>
                  <a:schemeClr val="tx2"/>
                </a:solidFill>
              </a:rPr>
              <a:t>n</a:t>
            </a:r>
            <a:r>
              <a:rPr lang="en-GB" sz="1100" dirty="0">
                <a:solidFill>
                  <a:schemeClr val="tx2"/>
                </a:solidFill>
              </a:rPr>
              <a:t> source</a:t>
            </a:r>
            <a:endParaRPr lang="en-DE" sz="1100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E2EC6D-8F64-7576-B65F-68BDF2204A83}"/>
              </a:ext>
            </a:extLst>
          </p:cNvPr>
          <p:cNvSpPr txBox="1"/>
          <p:nvPr/>
        </p:nvSpPr>
        <p:spPr>
          <a:xfrm>
            <a:off x="2354391" y="2403052"/>
            <a:ext cx="15636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tx2"/>
                </a:solidFill>
              </a:rPr>
              <a:t>c</a:t>
            </a:r>
            <a:r>
              <a:rPr lang="en-DE" sz="1100" dirty="0">
                <a:solidFill>
                  <a:schemeClr val="tx2"/>
                </a:solidFill>
              </a:rPr>
              <a:t>an include </a:t>
            </a:r>
            <a:r>
              <a:rPr lang="en-DE" sz="1100" b="1" dirty="0">
                <a:solidFill>
                  <a:schemeClr val="tx2"/>
                </a:solidFill>
              </a:rPr>
              <a:t>n</a:t>
            </a:r>
            <a:r>
              <a:rPr lang="en-DE" sz="1100" dirty="0">
                <a:solidFill>
                  <a:schemeClr val="tx2"/>
                </a:solidFill>
              </a:rPr>
              <a:t> Access Profiles</a:t>
            </a:r>
          </a:p>
        </p:txBody>
      </p:sp>
    </p:spTree>
    <p:extLst>
      <p:ext uri="{BB962C8B-B14F-4D97-AF65-F5344CB8AC3E}">
        <p14:creationId xmlns:p14="http://schemas.microsoft.com/office/powerpoint/2010/main" val="174585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FDE060A-004C-1A83-2F42-1B429C7B09D6}"/>
              </a:ext>
            </a:extLst>
          </p:cNvPr>
          <p:cNvGrpSpPr/>
          <p:nvPr/>
        </p:nvGrpSpPr>
        <p:grpSpPr>
          <a:xfrm>
            <a:off x="1173628" y="1622081"/>
            <a:ext cx="7879586" cy="3938811"/>
            <a:chOff x="0" y="0"/>
            <a:chExt cx="3419540" cy="125186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0346C30-18E2-2E26-8AD9-D8F7D17A5FAD}"/>
                </a:ext>
              </a:extLst>
            </p:cNvPr>
            <p:cNvCxnSpPr/>
            <p:nvPr/>
          </p:nvCxnSpPr>
          <p:spPr>
            <a:xfrm flipV="1">
              <a:off x="539551" y="1097506"/>
              <a:ext cx="2879844" cy="1543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7B865AF-3DE9-AF97-1628-B9EC67D73AD1}"/>
                </a:ext>
              </a:extLst>
            </p:cNvPr>
            <p:cNvCxnSpPr/>
            <p:nvPr/>
          </p:nvCxnSpPr>
          <p:spPr>
            <a:xfrm flipV="1">
              <a:off x="620773" y="490964"/>
              <a:ext cx="2798622" cy="520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E65C6C2-8EF9-8B71-FB93-B6495FFD42D4}"/>
                </a:ext>
              </a:extLst>
            </p:cNvPr>
            <p:cNvCxnSpPr/>
            <p:nvPr/>
          </p:nvCxnSpPr>
          <p:spPr>
            <a:xfrm flipV="1">
              <a:off x="0" y="0"/>
              <a:ext cx="2942929" cy="7286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D51DCB5-5DF3-AFDB-629B-6D164CA94ABC}"/>
                </a:ext>
              </a:extLst>
            </p:cNvPr>
            <p:cNvCxnSpPr/>
            <p:nvPr/>
          </p:nvCxnSpPr>
          <p:spPr>
            <a:xfrm>
              <a:off x="2942985" y="0"/>
              <a:ext cx="476555" cy="499462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BECDB32-3C42-9CB3-EC63-4DDB6052B98D}"/>
                </a:ext>
              </a:extLst>
            </p:cNvPr>
            <p:cNvCxnSpPr/>
            <p:nvPr/>
          </p:nvCxnSpPr>
          <p:spPr>
            <a:xfrm>
              <a:off x="3419395" y="499462"/>
              <a:ext cx="0" cy="591671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1C31E7C8-BAF5-0D34-0FF8-295D232F9067}"/>
              </a:ext>
            </a:extLst>
          </p:cNvPr>
          <p:cNvSpPr/>
          <p:nvPr/>
        </p:nvSpPr>
        <p:spPr>
          <a:xfrm>
            <a:off x="7102384" y="1094786"/>
            <a:ext cx="1358811" cy="1216758"/>
          </a:xfrm>
          <a:prstGeom prst="ellipse">
            <a:avLst/>
          </a:prstGeom>
          <a:solidFill>
            <a:srgbClr val="0070C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de-DE" dirty="0">
                <a:solidFill>
                  <a:schemeClr val="bg1"/>
                </a:solidFill>
              </a:rPr>
              <a:t>Access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E08CCCB8-E245-59C2-F0ED-EBC0DEC1834E}"/>
              </a:ext>
            </a:extLst>
          </p:cNvPr>
          <p:cNvSpPr txBox="1"/>
          <p:nvPr/>
        </p:nvSpPr>
        <p:spPr>
          <a:xfrm rot="20760000">
            <a:off x="3945218" y="3631841"/>
            <a:ext cx="3174929" cy="40421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DE"/>
            </a:defPPr>
            <a:lvl1pPr>
              <a:lnSpc>
                <a:spcPct val="115000"/>
              </a:lnSpc>
              <a:spcAft>
                <a:spcPts val="800"/>
              </a:spcAft>
              <a:defRPr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de-DE" dirty="0">
                <a:latin typeface="Aptos"/>
                <a:cs typeface="Times New Roman"/>
              </a:rPr>
              <a:t>Training Status = Approved</a:t>
            </a:r>
            <a:endParaRPr lang="en-DE" dirty="0">
              <a:latin typeface="Aptos"/>
              <a:cs typeface="Times New Roman"/>
            </a:endParaRP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4A4E422F-CFAE-8B3A-83F8-268DC160BF8D}"/>
              </a:ext>
            </a:extLst>
          </p:cNvPr>
          <p:cNvSpPr txBox="1"/>
          <p:nvPr/>
        </p:nvSpPr>
        <p:spPr>
          <a:xfrm rot="21300000">
            <a:off x="4200443" y="4860961"/>
            <a:ext cx="2731828" cy="32979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DE"/>
            </a:defPPr>
            <a:lvl1pPr>
              <a:lnSpc>
                <a:spcPct val="115000"/>
              </a:lnSpc>
              <a:spcAft>
                <a:spcPts val="800"/>
              </a:spcAft>
              <a:defRPr sz="16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de-DE" dirty="0"/>
              <a:t>Store Location = Boston</a:t>
            </a:r>
            <a:endParaRPr lang="en-DE" dirty="0"/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289F8E1B-674D-8540-E9F1-D5E473B1CA0E}"/>
              </a:ext>
            </a:extLst>
          </p:cNvPr>
          <p:cNvSpPr txBox="1"/>
          <p:nvPr/>
        </p:nvSpPr>
        <p:spPr>
          <a:xfrm rot="20486648">
            <a:off x="3580700" y="2159770"/>
            <a:ext cx="2882369" cy="585549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 Location = Houston</a:t>
            </a:r>
            <a:endParaRPr lang="en-DE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D50A27D-0867-322B-84BA-A58765CD9C42}"/>
              </a:ext>
            </a:extLst>
          </p:cNvPr>
          <p:cNvSpPr/>
          <p:nvPr/>
        </p:nvSpPr>
        <p:spPr>
          <a:xfrm>
            <a:off x="8251510" y="2613901"/>
            <a:ext cx="1358811" cy="1216758"/>
          </a:xfrm>
          <a:prstGeom prst="ellipse">
            <a:avLst/>
          </a:prstGeom>
          <a:solidFill>
            <a:srgbClr val="0070C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de-DE" dirty="0">
                <a:solidFill>
                  <a:schemeClr val="bg1"/>
                </a:solidFill>
              </a:rPr>
              <a:t>Access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394A6B-60F5-E613-F6F7-90363E3D30E2}"/>
              </a:ext>
            </a:extLst>
          </p:cNvPr>
          <p:cNvSpPr/>
          <p:nvPr/>
        </p:nvSpPr>
        <p:spPr>
          <a:xfrm>
            <a:off x="8373474" y="4418078"/>
            <a:ext cx="1358811" cy="1216758"/>
          </a:xfrm>
          <a:prstGeom prst="ellipse">
            <a:avLst/>
          </a:prstGeom>
          <a:solidFill>
            <a:srgbClr val="0070C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de-DE" dirty="0">
                <a:solidFill>
                  <a:schemeClr val="bg1"/>
                </a:solidFill>
              </a:rPr>
              <a:t>Access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B377C23D-C140-18A1-5516-02BFFB53CD44}"/>
              </a:ext>
            </a:extLst>
          </p:cNvPr>
          <p:cNvSpPr txBox="1"/>
          <p:nvPr/>
        </p:nvSpPr>
        <p:spPr>
          <a:xfrm>
            <a:off x="2069492" y="1095808"/>
            <a:ext cx="3477385" cy="585549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SailPoint Dynamic Role Model</a:t>
            </a:r>
            <a:endParaRPr lang="en-DE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45">
            <a:extLst>
              <a:ext uri="{FF2B5EF4-FFF2-40B4-BE49-F238E27FC236}">
                <a16:creationId xmlns:a16="http://schemas.microsoft.com/office/drawing/2014/main" id="{A8325E76-91D7-8551-8854-EAD49C4F2F19}"/>
              </a:ext>
            </a:extLst>
          </p:cNvPr>
          <p:cNvSpPr/>
          <p:nvPr/>
        </p:nvSpPr>
        <p:spPr>
          <a:xfrm>
            <a:off x="502308" y="3832343"/>
            <a:ext cx="2079321" cy="1872521"/>
          </a:xfrm>
          <a:prstGeom prst="roundRect">
            <a:avLst/>
          </a:prstGeom>
          <a:solidFill>
            <a:srgbClr val="0070C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DE" sz="2400" dirty="0">
                <a:solidFill>
                  <a:schemeClr val="bg1"/>
                </a:solidFill>
              </a:rPr>
              <a:t>Store Manager Role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791933-1AFE-2554-5BFB-7F203C75F329}"/>
              </a:ext>
            </a:extLst>
          </p:cNvPr>
          <p:cNvCxnSpPr/>
          <p:nvPr/>
        </p:nvCxnSpPr>
        <p:spPr>
          <a:xfrm flipV="1">
            <a:off x="8381552" y="1715018"/>
            <a:ext cx="3825272" cy="26042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2FA28F-35E8-9EE0-B663-A039103E4DC3}"/>
              </a:ext>
            </a:extLst>
          </p:cNvPr>
          <p:cNvCxnSpPr>
            <a:cxnSpLocks/>
          </p:cNvCxnSpPr>
          <p:nvPr/>
        </p:nvCxnSpPr>
        <p:spPr>
          <a:xfrm flipV="1">
            <a:off x="9290604" y="3205596"/>
            <a:ext cx="2909536" cy="12674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35259EB-C8DC-8C7E-6425-B4A049907729}"/>
              </a:ext>
            </a:extLst>
          </p:cNvPr>
          <p:cNvCxnSpPr>
            <a:cxnSpLocks/>
          </p:cNvCxnSpPr>
          <p:nvPr/>
        </p:nvCxnSpPr>
        <p:spPr>
          <a:xfrm flipV="1">
            <a:off x="9618130" y="5030385"/>
            <a:ext cx="2575325" cy="26042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C5F4B65-3977-8590-E0D8-DD94FA7A282D}"/>
              </a:ext>
            </a:extLst>
          </p:cNvPr>
          <p:cNvSpPr/>
          <p:nvPr/>
        </p:nvSpPr>
        <p:spPr>
          <a:xfrm rot="-5400000">
            <a:off x="8334256" y="2717557"/>
            <a:ext cx="4841461" cy="1020009"/>
          </a:xfrm>
          <a:prstGeom prst="rightArrow">
            <a:avLst/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multidemensional fields</a:t>
            </a:r>
          </a:p>
        </p:txBody>
      </p:sp>
    </p:spTree>
    <p:extLst>
      <p:ext uri="{BB962C8B-B14F-4D97-AF65-F5344CB8AC3E}">
        <p14:creationId xmlns:p14="http://schemas.microsoft.com/office/powerpoint/2010/main" val="1051794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A5C0-7345-A2CF-E8A8-C0DD78292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25A7B2B-7994-AF90-09D4-7F08DD5EEE55}"/>
              </a:ext>
            </a:extLst>
          </p:cNvPr>
          <p:cNvSpPr/>
          <p:nvPr/>
        </p:nvSpPr>
        <p:spPr>
          <a:xfrm>
            <a:off x="450017" y="1615593"/>
            <a:ext cx="10042565" cy="196749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2400" b="1" dirty="0">
              <a:solidFill>
                <a:schemeClr val="accent4"/>
              </a:solidFill>
            </a:endParaRPr>
          </a:p>
          <a:p>
            <a:pPr algn="ctr"/>
            <a:endParaRPr lang="en-GB" sz="2400" b="1" dirty="0">
              <a:solidFill>
                <a:schemeClr val="accent4"/>
              </a:solidFill>
            </a:endParaRPr>
          </a:p>
          <a:p>
            <a:pPr algn="ctr"/>
            <a:endParaRPr lang="en-GB" sz="2400" b="1" dirty="0">
              <a:solidFill>
                <a:schemeClr val="accent4"/>
              </a:solidFill>
            </a:endParaRPr>
          </a:p>
          <a:p>
            <a:pPr algn="ctr"/>
            <a:r>
              <a:rPr lang="en-GB" sz="2400" b="1" dirty="0">
                <a:solidFill>
                  <a:schemeClr val="accent4"/>
                </a:solidFill>
              </a:rPr>
              <a:t>To add on the tenant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3D7DE2-8E3F-F425-6830-B41DE053EDDE}"/>
              </a:ext>
            </a:extLst>
          </p:cNvPr>
          <p:cNvSpPr/>
          <p:nvPr/>
        </p:nvSpPr>
        <p:spPr>
          <a:xfrm>
            <a:off x="450017" y="3718149"/>
            <a:ext cx="10042565" cy="288471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err="1">
                <a:solidFill>
                  <a:schemeClr val="accent4"/>
                </a:solidFill>
              </a:rPr>
              <a:t>PoV</a:t>
            </a:r>
            <a:r>
              <a:rPr lang="en-GB" sz="2400" b="1" dirty="0">
                <a:solidFill>
                  <a:schemeClr val="accent4"/>
                </a:solidFill>
              </a:rPr>
              <a:t> iLab Tenant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69B72C9-055C-057A-5C37-E5319BD543D0}"/>
              </a:ext>
            </a:extLst>
          </p:cNvPr>
          <p:cNvSpPr/>
          <p:nvPr/>
        </p:nvSpPr>
        <p:spPr>
          <a:xfrm>
            <a:off x="1143395" y="4361411"/>
            <a:ext cx="324706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DE">
                <a:solidFill>
                  <a:schemeClr val="tx1"/>
                </a:solidFill>
              </a:rPr>
              <a:t>Imported Test Data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BAFC72-2E5C-EDC4-665D-C81812564B6B}"/>
              </a:ext>
            </a:extLst>
          </p:cNvPr>
          <p:cNvSpPr/>
          <p:nvPr/>
        </p:nvSpPr>
        <p:spPr>
          <a:xfrm>
            <a:off x="1143394" y="5161924"/>
            <a:ext cx="324706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Imported </a:t>
            </a:r>
            <a:r>
              <a:rPr lang="en-DE">
                <a:solidFill>
                  <a:schemeClr val="tx1"/>
                </a:solidFill>
              </a:rPr>
              <a:t>Configuration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B84764-2D48-B7B3-1DED-D2091FDB6DAF}"/>
              </a:ext>
            </a:extLst>
          </p:cNvPr>
          <p:cNvSpPr/>
          <p:nvPr/>
        </p:nvSpPr>
        <p:spPr>
          <a:xfrm>
            <a:off x="1143393" y="5922853"/>
            <a:ext cx="324706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Identity Security </a:t>
            </a:r>
            <a:r>
              <a:rPr lang="en-DE">
                <a:solidFill>
                  <a:schemeClr val="tx1"/>
                </a:solidFill>
              </a:rPr>
              <a:t>Cloud Tenant</a:t>
            </a:r>
            <a:endParaRPr lang="en-US"/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6E5785F5-4DE0-7224-7646-89E01C04F2F4}"/>
              </a:ext>
            </a:extLst>
          </p:cNvPr>
          <p:cNvSpPr/>
          <p:nvPr/>
        </p:nvSpPr>
        <p:spPr>
          <a:xfrm>
            <a:off x="1143395" y="2597521"/>
            <a:ext cx="3247061" cy="44154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DE">
                <a:solidFill>
                  <a:schemeClr val="tx1"/>
                </a:solidFill>
              </a:rPr>
              <a:t>Customer UseCases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844DB1-0522-397B-976A-C59FEDCF0C9C}"/>
              </a:ext>
            </a:extLst>
          </p:cNvPr>
          <p:cNvSpPr txBox="1"/>
          <p:nvPr/>
        </p:nvSpPr>
        <p:spPr>
          <a:xfrm>
            <a:off x="4747894" y="5959616"/>
            <a:ext cx="34834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Naked test tenant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47098D-9782-F5F0-9605-313405AACB89}"/>
              </a:ext>
            </a:extLst>
          </p:cNvPr>
          <p:cNvSpPr txBox="1"/>
          <p:nvPr/>
        </p:nvSpPr>
        <p:spPr>
          <a:xfrm>
            <a:off x="4747893" y="5385643"/>
            <a:ext cx="53438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Sources, Roles, Certifications and more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D8228F-3673-A950-E853-E4F9EE948C5B}"/>
              </a:ext>
            </a:extLst>
          </p:cNvPr>
          <p:cNvSpPr txBox="1"/>
          <p:nvPr/>
        </p:nvSpPr>
        <p:spPr>
          <a:xfrm>
            <a:off x="4747893" y="5059071"/>
            <a:ext cx="53438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Foundation</a:t>
            </a:r>
            <a:endParaRPr lang="en-US" b="1" dirty="0"/>
          </a:p>
        </p:txBody>
      </p:sp>
      <p:pic>
        <p:nvPicPr>
          <p:cNvPr id="30" name="Graphic 29" descr="Puzzle outline">
            <a:extLst>
              <a:ext uri="{FF2B5EF4-FFF2-40B4-BE49-F238E27FC236}">
                <a16:creationId xmlns:a16="http://schemas.microsoft.com/office/drawing/2014/main" id="{68C8F243-355D-8C4F-25BD-C2264C7AB9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3291" y="333572"/>
            <a:ext cx="914400" cy="914400"/>
          </a:xfrm>
          <a:prstGeom prst="rect">
            <a:avLst/>
          </a:prstGeom>
        </p:spPr>
      </p:pic>
      <p:pic>
        <p:nvPicPr>
          <p:cNvPr id="32" name="Graphic 31" descr="Puzzle outline">
            <a:extLst>
              <a:ext uri="{FF2B5EF4-FFF2-40B4-BE49-F238E27FC236}">
                <a16:creationId xmlns:a16="http://schemas.microsoft.com/office/drawing/2014/main" id="{35B0E934-C63B-9623-D102-0013A5916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674211" y="686350"/>
            <a:ext cx="914400" cy="914400"/>
          </a:xfrm>
          <a:prstGeom prst="rect">
            <a:avLst/>
          </a:prstGeom>
        </p:spPr>
      </p:pic>
      <p:pic>
        <p:nvPicPr>
          <p:cNvPr id="34" name="Graphic 33" descr="Puzzle outline">
            <a:extLst>
              <a:ext uri="{FF2B5EF4-FFF2-40B4-BE49-F238E27FC236}">
                <a16:creationId xmlns:a16="http://schemas.microsoft.com/office/drawing/2014/main" id="{D1E0B7F2-F259-9E15-2FAB-DA51C28808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9322" y="333572"/>
            <a:ext cx="914400" cy="914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2A2F15E-B98E-3AA5-DCAC-89D0CB1DF478}"/>
              </a:ext>
            </a:extLst>
          </p:cNvPr>
          <p:cNvSpPr txBox="1"/>
          <p:nvPr/>
        </p:nvSpPr>
        <p:spPr>
          <a:xfrm>
            <a:off x="4747893" y="4284977"/>
            <a:ext cx="53438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Content</a:t>
            </a:r>
            <a:endParaRPr 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021C83-DDFF-4680-8914-1AAC74A91D33}"/>
              </a:ext>
            </a:extLst>
          </p:cNvPr>
          <p:cNvSpPr txBox="1"/>
          <p:nvPr/>
        </p:nvSpPr>
        <p:spPr>
          <a:xfrm>
            <a:off x="4747893" y="4581309"/>
            <a:ext cx="53438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To play around with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60649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8edb18-569b-4afb-9d58-7d7c74a0a394">
      <Terms xmlns="http://schemas.microsoft.com/office/infopath/2007/PartnerControls"/>
    </lcf76f155ced4ddcb4097134ff3c332f>
    <Fred xmlns="e78edb18-569b-4afb-9d58-7d7c74a0a394" xsi:nil="true"/>
    <TaxCatchAll xmlns="d0454b62-40bb-4934-9c9b-88102b609213" xsi:nil="true"/>
    <Sequence xmlns="e78edb18-569b-4afb-9d58-7d7c74a0a394" xsi:nil="true"/>
    <Comment xmlns="e78edb18-569b-4afb-9d58-7d7c74a0a39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DB735AEADCF43B2247E07D5DEE9BD" ma:contentTypeVersion="18" ma:contentTypeDescription="Create a new document." ma:contentTypeScope="" ma:versionID="977666ae996a284f6026f2b59964e346">
  <xsd:schema xmlns:xsd="http://www.w3.org/2001/XMLSchema" xmlns:xs="http://www.w3.org/2001/XMLSchema" xmlns:p="http://schemas.microsoft.com/office/2006/metadata/properties" xmlns:ns2="e78edb18-569b-4afb-9d58-7d7c74a0a394" xmlns:ns3="d0454b62-40bb-4934-9c9b-88102b609213" targetNamespace="http://schemas.microsoft.com/office/2006/metadata/properties" ma:root="true" ma:fieldsID="ab9fea4e08b9e06ff152cef20aa3138e" ns2:_="" ns3:_="">
    <xsd:import namespace="e78edb18-569b-4afb-9d58-7d7c74a0a394"/>
    <xsd:import namespace="d0454b62-40bb-4934-9c9b-88102b6092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Fred" minOccurs="0"/>
                <xsd:element ref="ns2:MediaServiceBillingMetadata" minOccurs="0"/>
                <xsd:element ref="ns2:Comment" minOccurs="0"/>
                <xsd:element ref="ns2:Sequenc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8edb18-569b-4afb-9d58-7d7c74a0a3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66ed406-3537-49d8-bc52-900f103f003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Fred" ma:index="22" nillable="true" ma:displayName="Fred" ma:description="FY24 review &amp; FY26 Outlook" ma:format="Dropdown" ma:internalName="Fred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Comment" ma:index="24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Sequence" ma:index="25" nillable="true" ma:displayName="Sequence" ma:format="Dropdown" ma:internalName="Sequence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454b62-40bb-4934-9c9b-88102b60921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b81ceb-2043-4413-a80c-4ec041f0ce76}" ma:internalName="TaxCatchAll" ma:showField="CatchAllData" ma:web="d0454b62-40bb-4934-9c9b-88102b6092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0FB8E9-FFD1-4ECE-9FDF-85B567FF70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7083F0-3442-4E08-BA0B-67586261D991}">
  <ds:schemaRefs>
    <ds:schemaRef ds:uri="http://schemas.microsoft.com/office/2006/metadata/properties"/>
    <ds:schemaRef ds:uri="http://schemas.microsoft.com/office/infopath/2007/PartnerControls"/>
    <ds:schemaRef ds:uri="e78edb18-569b-4afb-9d58-7d7c74a0a394"/>
    <ds:schemaRef ds:uri="d0454b62-40bb-4934-9c9b-88102b609213"/>
  </ds:schemaRefs>
</ds:datastoreItem>
</file>

<file path=customXml/itemProps3.xml><?xml version="1.0" encoding="utf-8"?>
<ds:datastoreItem xmlns:ds="http://schemas.openxmlformats.org/officeDocument/2006/customXml" ds:itemID="{9AF0A924-6421-4B0C-8494-DAF9D44C2D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8edb18-569b-4afb-9d58-7d7c74a0a394"/>
    <ds:schemaRef ds:uri="d0454b62-40bb-4934-9c9b-88102b6092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11080</TotalTime>
  <Words>73</Words>
  <Application>Microsoft Office PowerPoint</Application>
  <PresentationFormat>Widescreen</PresentationFormat>
  <Paragraphs>28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iLab </vt:lpstr>
      <vt:lpstr>SailPoint Model</vt:lpstr>
      <vt:lpstr>SailPoint Model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Bersch</dc:creator>
  <cp:lastModifiedBy>Christian Bersch</cp:lastModifiedBy>
  <cp:revision>218</cp:revision>
  <dcterms:created xsi:type="dcterms:W3CDTF">2025-01-07T14:45:21Z</dcterms:created>
  <dcterms:modified xsi:type="dcterms:W3CDTF">2026-05-19T07:53:43Z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0x010100CC2DB735AEADCF43B2247E07D5DEE9BD</vt:lpwstr>
  </property>
  <property fmtid="{D5CDD505-2E9C-101B-9397-08002B2CF9AE}" pid="3" name="MediaServiceImageTags">
    <vt:lpwstr/>
  </property>
</Properties>
</file>