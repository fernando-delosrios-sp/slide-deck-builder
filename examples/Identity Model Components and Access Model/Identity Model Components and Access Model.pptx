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3550" r:id="rId5"/>
    <p:sldId id="2147327604" r:id="rId6"/>
    <p:sldId id="2147327603" r:id="rId7"/>
    <p:sldId id="2147327505" r:id="rId8"/>
    <p:sldId id="479" r:id="rId9"/>
    <p:sldId id="377" r:id="rId10"/>
    <p:sldId id="474" r:id="rId11"/>
    <p:sldId id="475" r:id="rId12"/>
    <p:sldId id="476" r:id="rId13"/>
    <p:sldId id="473" r:id="rId14"/>
    <p:sldId id="2147327627" r:id="rId15"/>
    <p:sldId id="2147327628" r:id="rId16"/>
    <p:sldId id="2147327629" r:id="rId17"/>
    <p:sldId id="2147327510" r:id="rId18"/>
    <p:sldId id="2147327630" r:id="rId19"/>
    <p:sldId id="2147327518" r:id="rId20"/>
    <p:sldId id="2147327509" r:id="rId21"/>
    <p:sldId id="2147327519" r:id="rId22"/>
    <p:sldId id="2147327520" r:id="rId23"/>
    <p:sldId id="2147327515" r:id="rId24"/>
    <p:sldId id="2147327521" r:id="rId25"/>
    <p:sldId id="2147327522" r:id="rId26"/>
    <p:sldId id="2147327523" r:id="rId27"/>
    <p:sldId id="2147327524" r:id="rId28"/>
    <p:sldId id="2147327525" r:id="rId29"/>
    <p:sldId id="2147327528" r:id="rId30"/>
    <p:sldId id="2147327526" r:id="rId31"/>
    <p:sldId id="2147327533" r:id="rId32"/>
    <p:sldId id="2147327529" r:id="rId33"/>
    <p:sldId id="2147327530" r:id="rId34"/>
    <p:sldId id="2147327514" r:id="rId35"/>
    <p:sldId id="2147327517" r:id="rId36"/>
    <p:sldId id="2147327504" r:id="rId37"/>
    <p:sldId id="2147327516" r:id="rId38"/>
    <p:sldId id="2147327513" r:id="rId39"/>
    <p:sldId id="2147327502" r:id="rId40"/>
    <p:sldId id="2147327512" r:id="rId41"/>
  </p:sldIdLst>
  <p:sldSz cx="12192000" cy="6858000"/>
  <p:notesSz cx="6858000" cy="2085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DDFF"/>
    <a:srgbClr val="3CB5E2"/>
    <a:srgbClr val="2ECDDC"/>
    <a:srgbClr val="000000"/>
    <a:srgbClr val="34B050"/>
    <a:srgbClr val="4486FF"/>
    <a:srgbClr val="82DE6F"/>
    <a:srgbClr val="753BBD"/>
    <a:srgbClr val="002068"/>
    <a:srgbClr val="000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CED34-CE7F-0644-B821-11F987C1D9A1}" v="1" dt="2021-03-24T14:26:57.777"/>
    <p1510:client id="{689442E1-60FA-A44A-91F1-893ADF7F2F97}" v="1" dt="2021-03-24T12:32:23.058"/>
    <p1510:client id="{EE9BCB4D-AE58-6748-9BEE-2AA002AC1C03}" v="84" dt="2021-03-24T14:21:38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1"/>
    <p:restoredTop sz="83401"/>
  </p:normalViewPr>
  <p:slideViewPr>
    <p:cSldViewPr snapToGrid="0">
      <p:cViewPr varScale="1">
        <p:scale>
          <a:sx n="106" d="100"/>
          <a:sy n="106" d="100"/>
        </p:scale>
        <p:origin x="1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1EC0F0-0FD9-464D-955F-5640E4761C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3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BD982-DA8F-8247-88F4-79281E7A4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09" y="0"/>
            <a:ext cx="2971803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F06DB73-9EFF-3249-A846-E8C74830E2D4}" type="datetimeFigureOut">
              <a:rPr lang="en-US"/>
              <a:pPr>
                <a:defRPr/>
              </a:pPr>
              <a:t>12/9/22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ECBE7-0CAD-4F43-A4F1-A7B8E105E8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4"/>
            <a:ext cx="297180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902CC-67AC-7447-BC3B-2367252E85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09" y="8685214"/>
            <a:ext cx="297180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C1F3388-D5F0-1147-ADCF-F142E2830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0D5C9C-5D32-D74A-90D7-69EE6A8D67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3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AA8AF-E3F3-3343-8738-F3B2D18C5B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09" y="0"/>
            <a:ext cx="2971803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9FB5869-2A9D-F14E-992F-F4C268C8DBB7}" type="datetimeFigureOut">
              <a:rPr lang="en-US"/>
              <a:pPr>
                <a:defRPr/>
              </a:pPr>
              <a:t>12/9/22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EEC010-EB5A-784E-99FF-E6AD0E218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173B94D-8134-094D-A9C8-86487F81C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3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EF11F-D24D-BE47-B149-16480D47C6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DEB05-FBCE-1343-9D89-A3BEB4E6A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09" y="8685214"/>
            <a:ext cx="297180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B42028B-A84D-C142-94B7-4ECF1A432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00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Authoritative Source = Systems of Record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A1BABC-B757-4B4E-9279-49FB28DBED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2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1BABC-B757-4B4E-9279-49FB28DBED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03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solidFill>
                  <a:srgbClr val="012168"/>
                </a:solidFill>
                <a:latin typeface="CustomFont"/>
              </a:rPr>
              <a:t>Access rights including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memberships and access permissions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56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Entitlements: </a:t>
            </a:r>
            <a:r>
              <a:rPr lang="en-GB" sz="1200" dirty="0">
                <a:solidFill>
                  <a:srgbClr val="012168"/>
                </a:solidFill>
                <a:latin typeface="CustomFont"/>
              </a:rPr>
              <a:t>Access rights, including group memberships or access permissions, that have been granted to a user who has an account on the related source. 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07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Profiles: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or more entitlements from a single source system (application) bundled and should be assigned as one unit.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User’s can also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Access Profiles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directly through the IDN Request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 approval process (for AP) (if configured) when requesting access </a:t>
            </a:r>
          </a:p>
          <a:p>
            <a:endParaRPr lang="en-US" dirty="0"/>
          </a:p>
          <a:p>
            <a:r>
              <a:rPr lang="en-US" dirty="0"/>
              <a:t>Detection: IDN compares (after aggregation of accounts and entitlements) the entitlements held by the user with the entitlements bundled on the access profile.</a:t>
            </a:r>
          </a:p>
          <a:p>
            <a:r>
              <a:rPr lang="en-US" dirty="0"/>
              <a:t>If the identity has all the entitlements contained within the access profile, the access profile is detected (and enabled) for that identity.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12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may use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entitlements as a membership criteria to assign roles.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Identities are assigned to a role, if they meet the roles membership matching criteria.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 role is assigned, IDN will provision the appropriate entitlement that are contained within the roles access profile.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approval process is initiated.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 can be requested as well</a:t>
            </a:r>
          </a:p>
          <a:p>
            <a:r>
              <a:rPr lang="en-US" dirty="0"/>
              <a:t>Roles grant the included access profile to provide access to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09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46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52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creation, aggregate/load accounts and entitlements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00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Detection: IDN compares (after aggregation of accounts and entitlements) the entitlements held by the user with the entitlements bundled on the access profile.</a:t>
            </a:r>
          </a:p>
          <a:p>
            <a:r>
              <a:rPr lang="en-US" dirty="0"/>
              <a:t>If the identity has all the entitlements contained within the access profile, the access profile is detected (and enabled) for that identity.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00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5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states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(defined in identity profiles) may grant 1-n Access Profiles (when an identity has moved into a new state) to provide/remove access to (role) members. 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profiles: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templates that describe how to create and model identities from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single,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incoming source,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be an authoritative source !  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97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Authoritative Source = Systems of Record</a:t>
            </a:r>
          </a:p>
          <a:p>
            <a:r>
              <a:rPr lang="en-US" dirty="0"/>
              <a:t>Other Sources = 3</a:t>
            </a:r>
            <a:r>
              <a:rPr lang="en-US" baseline="30000" dirty="0"/>
              <a:t>rd</a:t>
            </a:r>
            <a:r>
              <a:rPr lang="en-US" dirty="0"/>
              <a:t> party Appl, databases, directory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98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Authoritative Source = Systems of Record</a:t>
            </a:r>
          </a:p>
          <a:p>
            <a:r>
              <a:rPr lang="en-US" dirty="0"/>
              <a:t>Other Sources = 3</a:t>
            </a:r>
            <a:r>
              <a:rPr lang="en-US" baseline="30000" dirty="0"/>
              <a:t>rd</a:t>
            </a:r>
            <a:r>
              <a:rPr lang="en-US" dirty="0"/>
              <a:t> party Appl, databases, directory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42028B-A84D-C142-94B7-4ECF1A4323D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5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61988" y="1585914"/>
            <a:ext cx="10842625" cy="406982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ts val="5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310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3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65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A694031-A98B-3043-9790-5C167CFD0B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551D570-FC28-CF46-BE5C-E0401D96B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DEAA905-0DAB-6E4A-A027-BC3A3574BF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221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61988" y="1585914"/>
            <a:ext cx="10842625" cy="41714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1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61988" y="1585914"/>
            <a:ext cx="10842625" cy="41714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A49FF6-C375-FE4A-9C46-8602CD7B6C56}"/>
              </a:ext>
            </a:extLst>
          </p:cNvPr>
          <p:cNvSpPr/>
          <p:nvPr userDrawn="1"/>
        </p:nvSpPr>
        <p:spPr>
          <a:xfrm>
            <a:off x="575733" y="1075267"/>
            <a:ext cx="11006667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4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61988" y="1585914"/>
            <a:ext cx="4942945" cy="41714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quarter" idx="12"/>
          </p:nvPr>
        </p:nvSpPr>
        <p:spPr>
          <a:xfrm>
            <a:off x="6562289" y="1585914"/>
            <a:ext cx="4942945" cy="41714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8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35AE6E-99A1-7F4D-8141-EE87E11B001A}"/>
              </a:ext>
            </a:extLst>
          </p:cNvPr>
          <p:cNvCxnSpPr/>
          <p:nvPr/>
        </p:nvCxnSpPr>
        <p:spPr>
          <a:xfrm>
            <a:off x="661988" y="1206500"/>
            <a:ext cx="10842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014197" y="1585912"/>
            <a:ext cx="4491037" cy="4491037"/>
          </a:xfrm>
          <a:prstGeom prst="ellipse">
            <a:avLst/>
          </a:prstGeom>
        </p:spPr>
        <p:txBody>
          <a:bodyPr rtlCol="0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61988" y="1585913"/>
            <a:ext cx="6074988" cy="4491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548F846-2AAB-9848-B207-F9A544BFC4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ACB1BECA-6188-4040-B47E-5716B6EE62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5E390DD-9058-1349-A962-DA81C5C62B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4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80552F-457E-1F4A-984B-777BAC3C79C7}"/>
              </a:ext>
            </a:extLst>
          </p:cNvPr>
          <p:cNvCxnSpPr/>
          <p:nvPr/>
        </p:nvCxnSpPr>
        <p:spPr>
          <a:xfrm flipV="1">
            <a:off x="4184650" y="696913"/>
            <a:ext cx="0" cy="5011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483560" y="696535"/>
            <a:ext cx="7121747" cy="5011370"/>
          </a:xfrm>
        </p:spPr>
        <p:txBody>
          <a:bodyPr anchor="ctr"/>
          <a:lstStyle>
            <a:lvl1pPr marL="457200" indent="-457200">
              <a:spcBef>
                <a:spcPts val="2000"/>
              </a:spcBef>
              <a:buFont typeface="Arial" charset="0"/>
              <a:buChar char="•"/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62505" y="696535"/>
            <a:ext cx="3223696" cy="5011370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67B6003-CFE2-1A43-82A0-93B1F16297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5928946-E002-974E-B34C-FDF15AD0D07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28F492E1-4721-8C40-B202-2345D6D83E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6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D0443A-20D8-AC4A-BC83-4E9D90502D85}"/>
              </a:ext>
            </a:extLst>
          </p:cNvPr>
          <p:cNvCxnSpPr/>
          <p:nvPr/>
        </p:nvCxnSpPr>
        <p:spPr>
          <a:xfrm>
            <a:off x="661988" y="1206500"/>
            <a:ext cx="10842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61988" y="1585913"/>
            <a:ext cx="6119811" cy="44910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661275" y="2093913"/>
            <a:ext cx="3509963" cy="2770187"/>
          </a:xfrm>
        </p:spPr>
        <p:txBody>
          <a:bodyPr rtlCol="0">
            <a:noAutofit/>
          </a:bodyPr>
          <a:lstStyle/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D44B110C-C6F0-6346-AA2B-728BA64BF5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E33D927-5093-7A42-936C-32500A19DE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C903B27F-74AF-DB40-A107-8A49B8DEC2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41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89B28B-7E2F-654C-9AD8-0214EF62E0CA}"/>
              </a:ext>
            </a:extLst>
          </p:cNvPr>
          <p:cNvCxnSpPr/>
          <p:nvPr/>
        </p:nvCxnSpPr>
        <p:spPr>
          <a:xfrm>
            <a:off x="661988" y="1206500"/>
            <a:ext cx="10842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942A00-6ADC-1144-B36C-65EA5D4033DA}"/>
              </a:ext>
            </a:extLst>
          </p:cNvPr>
          <p:cNvSpPr/>
          <p:nvPr/>
        </p:nvSpPr>
        <p:spPr>
          <a:xfrm>
            <a:off x="661988" y="515938"/>
            <a:ext cx="2530475" cy="5554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D951B0-D248-7D44-AF13-D42A81B8E9F6}"/>
              </a:ext>
            </a:extLst>
          </p:cNvPr>
          <p:cNvSpPr txBox="1">
            <a:spLocks/>
          </p:cNvSpPr>
          <p:nvPr/>
        </p:nvSpPr>
        <p:spPr>
          <a:xfrm>
            <a:off x="661988" y="708025"/>
            <a:ext cx="2530475" cy="34448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2000">
                <a:solidFill>
                  <a:schemeClr val="accent1"/>
                </a:solidFill>
              </a:rPr>
              <a:t>Case Study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443514-59CF-624E-A4D8-6219AB3B3B1C}"/>
              </a:ext>
            </a:extLst>
          </p:cNvPr>
          <p:cNvSpPr txBox="1">
            <a:spLocks/>
          </p:cNvSpPr>
          <p:nvPr/>
        </p:nvSpPr>
        <p:spPr>
          <a:xfrm>
            <a:off x="3436938" y="1633538"/>
            <a:ext cx="1651000" cy="30003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>
                <a:solidFill>
                  <a:schemeClr val="accent1"/>
                </a:solidFill>
              </a:rPr>
              <a:t>The Problem: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CF9F6-27FA-E441-81CB-D051E16CEB25}"/>
              </a:ext>
            </a:extLst>
          </p:cNvPr>
          <p:cNvCxnSpPr/>
          <p:nvPr/>
        </p:nvCxnSpPr>
        <p:spPr>
          <a:xfrm>
            <a:off x="3436938" y="3303588"/>
            <a:ext cx="128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F27BFC-FA5F-F047-8DA2-5DED982674CC}"/>
              </a:ext>
            </a:extLst>
          </p:cNvPr>
          <p:cNvSpPr txBox="1">
            <a:spLocks/>
          </p:cNvSpPr>
          <p:nvPr/>
        </p:nvSpPr>
        <p:spPr>
          <a:xfrm>
            <a:off x="3436938" y="2998788"/>
            <a:ext cx="1651000" cy="29845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>
                <a:solidFill>
                  <a:schemeClr val="accent1"/>
                </a:solidFill>
              </a:rPr>
              <a:t>The Solution: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64D28-356B-9343-ADBE-DFCE52361907}"/>
              </a:ext>
            </a:extLst>
          </p:cNvPr>
          <p:cNvCxnSpPr/>
          <p:nvPr/>
        </p:nvCxnSpPr>
        <p:spPr>
          <a:xfrm>
            <a:off x="652463" y="1200150"/>
            <a:ext cx="25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7FBFDA-EA5A-0E4B-A9D0-152CB288F8EA}"/>
              </a:ext>
            </a:extLst>
          </p:cNvPr>
          <p:cNvCxnSpPr/>
          <p:nvPr/>
        </p:nvCxnSpPr>
        <p:spPr>
          <a:xfrm>
            <a:off x="3436938" y="1927225"/>
            <a:ext cx="128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/>
          <p:cNvSpPr>
            <a:spLocks noGrp="1"/>
          </p:cNvSpPr>
          <p:nvPr>
            <p:ph sz="quarter" idx="11"/>
          </p:nvPr>
        </p:nvSpPr>
        <p:spPr>
          <a:xfrm>
            <a:off x="4969936" y="1634309"/>
            <a:ext cx="6534678" cy="1108891"/>
          </a:xfrm>
        </p:spPr>
        <p:txBody>
          <a:bodyPr tIns="0" bIns="0">
            <a:no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37467" y="516466"/>
            <a:ext cx="8067767" cy="67572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1850" y="2998138"/>
            <a:ext cx="2236470" cy="2854022"/>
          </a:xfrm>
        </p:spPr>
        <p:txBody>
          <a:bodyPr>
            <a:noAutofit/>
          </a:bodyPr>
          <a:lstStyle>
            <a:lvl1pPr marL="182880" indent="-182880">
              <a:spcBef>
                <a:spcPts val="1000"/>
              </a:spcBef>
              <a:buFont typeface="Arial" charset="0"/>
              <a:buChar char="•"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31850" y="1585913"/>
            <a:ext cx="2236788" cy="1339850"/>
          </a:xfrm>
        </p:spPr>
        <p:txBody>
          <a:bodyPr tIns="0" bIns="0">
            <a:norm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4970463" y="2998788"/>
            <a:ext cx="6534150" cy="3071811"/>
          </a:xfrm>
        </p:spPr>
        <p:txBody>
          <a:bodyPr>
            <a:noAutofit/>
          </a:bodyPr>
          <a:lstStyle>
            <a:lvl1pPr marL="182880" marR="0" indent="-18288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32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 to Y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0">
            <a:extLst>
              <a:ext uri="{FF2B5EF4-FFF2-40B4-BE49-F238E27FC236}">
                <a16:creationId xmlns:a16="http://schemas.microsoft.com/office/drawing/2014/main" id="{EB5D2F78-B899-2241-B06D-1B43E554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2" t="8723" r="8092" b="-1610"/>
          <a:stretch>
            <a:fillRect/>
          </a:stretch>
        </p:blipFill>
        <p:spPr bwMode="auto">
          <a:xfrm>
            <a:off x="4763" y="0"/>
            <a:ext cx="6102350" cy="697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B6C2FFC-4A1A-744A-87D1-C33CBA7681F5}"/>
              </a:ext>
            </a:extLst>
          </p:cNvPr>
          <p:cNvSpPr/>
          <p:nvPr/>
        </p:nvSpPr>
        <p:spPr>
          <a:xfrm>
            <a:off x="1433513" y="1704975"/>
            <a:ext cx="3244850" cy="3246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552E6-F6D5-9A4D-B08F-AD567ED10226}"/>
              </a:ext>
            </a:extLst>
          </p:cNvPr>
          <p:cNvSpPr/>
          <p:nvPr/>
        </p:nvSpPr>
        <p:spPr>
          <a:xfrm>
            <a:off x="6103938" y="0"/>
            <a:ext cx="60880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3ADA00-1CF5-164E-B96E-42AC7FC7B75A}"/>
              </a:ext>
            </a:extLst>
          </p:cNvPr>
          <p:cNvSpPr/>
          <p:nvPr/>
        </p:nvSpPr>
        <p:spPr>
          <a:xfrm>
            <a:off x="7615238" y="1774825"/>
            <a:ext cx="3063875" cy="3065463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37595556-1B01-9141-9AC4-2D560BE86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28B51250-D589-3444-91D9-045DE51C4D0C}" type="slidenum">
              <a:rPr lang="en-US" altLang="en-US" sz="800">
                <a:solidFill>
                  <a:schemeClr val="bg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/>
              </a:solidFill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407B0FE-7899-884C-84A4-A3B6C2932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2924175"/>
            <a:ext cx="26352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/>
              <a:t>from</a:t>
            </a: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A847CDA9-E159-8F46-BCD9-4DA4C2BBC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2924175"/>
            <a:ext cx="26352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chemeClr val="bg1"/>
                </a:solidFill>
              </a:rPr>
              <a:t>to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1BB175DC-3B53-A84B-B558-D7B64F186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/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2019. All rights reserved.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830233" y="3307697"/>
            <a:ext cx="2635250" cy="577850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726517" y="3307697"/>
            <a:ext cx="2635250" cy="577850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C1C2DD8-3237-DE49-9F83-C5F87669D5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261725" y="6389688"/>
            <a:ext cx="681038" cy="3254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CE08A68-F3B1-B74C-8465-198042DEB1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29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 to 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9">
            <a:extLst>
              <a:ext uri="{FF2B5EF4-FFF2-40B4-BE49-F238E27FC236}">
                <a16:creationId xmlns:a16="http://schemas.microsoft.com/office/drawing/2014/main" id="{86351382-4C69-3E45-A890-1B3FD53BF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" r="3738"/>
          <a:stretch>
            <a:fillRect/>
          </a:stretch>
        </p:blipFill>
        <p:spPr bwMode="auto">
          <a:xfrm>
            <a:off x="6088063" y="0"/>
            <a:ext cx="61102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DA492C-3179-114E-BFAC-6D65B49EDF21}"/>
              </a:ext>
            </a:extLst>
          </p:cNvPr>
          <p:cNvSpPr/>
          <p:nvPr/>
        </p:nvSpPr>
        <p:spPr>
          <a:xfrm>
            <a:off x="0" y="0"/>
            <a:ext cx="60880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A9C88FD-9D97-924E-AE80-675167804B42}"/>
              </a:ext>
            </a:extLst>
          </p:cNvPr>
          <p:cNvSpPr/>
          <p:nvPr/>
        </p:nvSpPr>
        <p:spPr>
          <a:xfrm>
            <a:off x="1439863" y="1722438"/>
            <a:ext cx="3208337" cy="320833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FC17BB25-18FB-DE4D-AB3E-3999D602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72380FE-A63A-BB49-9FEB-FDEA279F480F}" type="slidenum">
              <a:rPr lang="en-US" altLang="en-US" sz="800">
                <a:solidFill>
                  <a:schemeClr val="bg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/>
              </a:solidFill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C7F3DB85-B5C8-8047-94A9-A34DFA16F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2924175"/>
            <a:ext cx="26352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/>
              <a:t>from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BB5A7DA0-A4D8-784F-8357-4A3E1D481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2924175"/>
            <a:ext cx="26352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chemeClr val="bg1"/>
                </a:solidFill>
              </a:rPr>
              <a:t>to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9202EE20-2843-3F45-921F-AE0E7BE50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/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2019. All rights reserved.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726517" y="3307697"/>
            <a:ext cx="2635250" cy="577850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830233" y="3307697"/>
            <a:ext cx="2635250" cy="577850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3041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EEAAD3-9CBD-784C-9338-CA49D97F6B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B0020F2-E5CE-2544-AAD1-F8D342CD6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504" y="593890"/>
            <a:ext cx="10842730" cy="520359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54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35D8C1-FC45-8146-9B3D-8B677A67D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1FAB5C-3749-DD44-BD01-6C6F3E5F0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2212CD9-D730-D54C-81D4-C40E6D6E24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569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3003DF-7D60-6F41-96D9-C76361EED0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B0020F2-E5CE-2544-AAD1-F8D342CD6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035D8C1-FC45-8146-9B3D-8B677A67D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1FAB5C-3749-DD44-BD01-6C6F3E5F0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2212CD9-D730-D54C-81D4-C40E6D6E24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DA098F-82F8-8B44-9B22-F1C400B819E4}"/>
              </a:ext>
            </a:extLst>
          </p:cNvPr>
          <p:cNvSpPr/>
          <p:nvPr userDrawn="1"/>
        </p:nvSpPr>
        <p:spPr>
          <a:xfrm>
            <a:off x="3705225" y="1038225"/>
            <a:ext cx="4781550" cy="4781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220805-AABA-BA48-9B07-35B4E5036A2A}"/>
              </a:ext>
            </a:extLst>
          </p:cNvPr>
          <p:cNvSpPr/>
          <p:nvPr userDrawn="1"/>
        </p:nvSpPr>
        <p:spPr>
          <a:xfrm>
            <a:off x="3433763" y="766763"/>
            <a:ext cx="5324475" cy="5324475"/>
          </a:xfrm>
          <a:prstGeom prst="ellipse">
            <a:avLst/>
          </a:prstGeom>
          <a:noFill/>
          <a:ln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B23E08-A00F-F047-A88D-77B1C0200371}"/>
              </a:ext>
            </a:extLst>
          </p:cNvPr>
          <p:cNvSpPr/>
          <p:nvPr userDrawn="1"/>
        </p:nvSpPr>
        <p:spPr>
          <a:xfrm>
            <a:off x="3003550" y="336550"/>
            <a:ext cx="6184900" cy="6184900"/>
          </a:xfrm>
          <a:prstGeom prst="ellipse">
            <a:avLst/>
          </a:prstGeom>
          <a:noFill/>
          <a:ln w="254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1015C6-6D9D-0842-BEA1-F3B8C3210A7A}"/>
              </a:ext>
            </a:extLst>
          </p:cNvPr>
          <p:cNvSpPr/>
          <p:nvPr userDrawn="1"/>
        </p:nvSpPr>
        <p:spPr>
          <a:xfrm>
            <a:off x="1433513" y="-1233488"/>
            <a:ext cx="9324975" cy="9324976"/>
          </a:xfrm>
          <a:prstGeom prst="ellipse">
            <a:avLst/>
          </a:prstGeom>
          <a:noFill/>
          <a:ln w="635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81F5B8-66BC-0048-ACC8-11436FD80CD9}"/>
              </a:ext>
            </a:extLst>
          </p:cNvPr>
          <p:cNvSpPr/>
          <p:nvPr userDrawn="1"/>
        </p:nvSpPr>
        <p:spPr>
          <a:xfrm>
            <a:off x="466725" y="-2200275"/>
            <a:ext cx="11258550" cy="11258550"/>
          </a:xfrm>
          <a:prstGeom prst="ellipse">
            <a:avLst/>
          </a:prstGeom>
          <a:noFill/>
          <a:ln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88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C98D698-AFDC-6D4B-8296-FFB604B222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53C992-2F3C-3B4D-B31A-9F61B7BF22A5}"/>
              </a:ext>
            </a:extLst>
          </p:cNvPr>
          <p:cNvSpPr/>
          <p:nvPr userDrawn="1"/>
        </p:nvSpPr>
        <p:spPr>
          <a:xfrm>
            <a:off x="3705225" y="1038225"/>
            <a:ext cx="4781550" cy="4781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160F-C19B-EE42-9451-261543CDA9A2}"/>
              </a:ext>
            </a:extLst>
          </p:cNvPr>
          <p:cNvSpPr/>
          <p:nvPr userDrawn="1"/>
        </p:nvSpPr>
        <p:spPr>
          <a:xfrm>
            <a:off x="3433763" y="766763"/>
            <a:ext cx="5324475" cy="53244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4733D-5D9D-474E-9138-A24080A8C881}"/>
              </a:ext>
            </a:extLst>
          </p:cNvPr>
          <p:cNvSpPr/>
          <p:nvPr userDrawn="1"/>
        </p:nvSpPr>
        <p:spPr>
          <a:xfrm>
            <a:off x="3003550" y="336550"/>
            <a:ext cx="6184900" cy="618490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516965-5726-0C47-8E8F-AD67AC6418AB}"/>
              </a:ext>
            </a:extLst>
          </p:cNvPr>
          <p:cNvSpPr/>
          <p:nvPr userDrawn="1"/>
        </p:nvSpPr>
        <p:spPr>
          <a:xfrm>
            <a:off x="1433513" y="-1233488"/>
            <a:ext cx="9324975" cy="9324976"/>
          </a:xfrm>
          <a:prstGeom prst="ellipse">
            <a:avLst/>
          </a:prstGeom>
          <a:noFill/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D13853-20AD-C041-B0E2-D4CAE36A8430}"/>
              </a:ext>
            </a:extLst>
          </p:cNvPr>
          <p:cNvSpPr/>
          <p:nvPr userDrawn="1"/>
        </p:nvSpPr>
        <p:spPr>
          <a:xfrm>
            <a:off x="466725" y="-2200275"/>
            <a:ext cx="11258550" cy="112585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A1703-F6D7-BE41-B54A-2D6B2534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129" y="1038129"/>
            <a:ext cx="4781743" cy="4781742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4973AD-1E8E-D84A-A481-BD656572CF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D06C986-9E12-0345-875F-5C3A9BF05D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2021.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DB3490-66AD-1F4B-9B0D-50211BF1CF57}"/>
              </a:ext>
            </a:extLst>
          </p:cNvPr>
          <p:cNvSpPr/>
          <p:nvPr userDrawn="1"/>
        </p:nvSpPr>
        <p:spPr>
          <a:xfrm>
            <a:off x="7818065" y="731545"/>
            <a:ext cx="747865" cy="74786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378123-1802-084B-8A16-E6053706B3B6}"/>
              </a:ext>
            </a:extLst>
          </p:cNvPr>
          <p:cNvGrpSpPr/>
          <p:nvPr userDrawn="1"/>
        </p:nvGrpSpPr>
        <p:grpSpPr>
          <a:xfrm>
            <a:off x="829854" y="5749921"/>
            <a:ext cx="692759" cy="692759"/>
            <a:chOff x="8886825" y="4865688"/>
            <a:chExt cx="762000" cy="762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BF9CBC7-4A25-754A-9375-EE8C3662B473}"/>
                </a:ext>
              </a:extLst>
            </p:cNvPr>
            <p:cNvSpPr/>
            <p:nvPr/>
          </p:nvSpPr>
          <p:spPr>
            <a:xfrm>
              <a:off x="8886825" y="4865688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26" name="Picture 136">
              <a:extLst>
                <a:ext uri="{FF2B5EF4-FFF2-40B4-BE49-F238E27FC236}">
                  <a16:creationId xmlns:a16="http://schemas.microsoft.com/office/drawing/2014/main" id="{5F6A6E43-DF16-9E4D-B04C-A981E68B1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9700" y="5019675"/>
              <a:ext cx="477838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C56C91-94A7-A247-AF4B-2C8E08828984}"/>
              </a:ext>
            </a:extLst>
          </p:cNvPr>
          <p:cNvGrpSpPr/>
          <p:nvPr userDrawn="1"/>
        </p:nvGrpSpPr>
        <p:grpSpPr>
          <a:xfrm>
            <a:off x="7803930" y="685134"/>
            <a:ext cx="762000" cy="762000"/>
            <a:chOff x="8886825" y="4865688"/>
            <a:chExt cx="762000" cy="762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47C4640-F85A-F54B-AC12-5F490510E585}"/>
                </a:ext>
              </a:extLst>
            </p:cNvPr>
            <p:cNvSpPr/>
            <p:nvPr/>
          </p:nvSpPr>
          <p:spPr>
            <a:xfrm>
              <a:off x="8886825" y="4865688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29" name="Picture 136">
              <a:extLst>
                <a:ext uri="{FF2B5EF4-FFF2-40B4-BE49-F238E27FC236}">
                  <a16:creationId xmlns:a16="http://schemas.microsoft.com/office/drawing/2014/main" id="{0CCD8DB3-FEEF-924A-B9A5-577DD4F439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9700" y="5019675"/>
              <a:ext cx="477838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5D0E8C-842C-7246-AD1C-98C249E210F7}"/>
              </a:ext>
            </a:extLst>
          </p:cNvPr>
          <p:cNvGrpSpPr/>
          <p:nvPr userDrawn="1"/>
        </p:nvGrpSpPr>
        <p:grpSpPr>
          <a:xfrm>
            <a:off x="2574993" y="2901631"/>
            <a:ext cx="762000" cy="762000"/>
            <a:chOff x="8918575" y="1636713"/>
            <a:chExt cx="762000" cy="762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6AA3665-B71E-4249-A226-9B5784584893}"/>
                </a:ext>
              </a:extLst>
            </p:cNvPr>
            <p:cNvSpPr/>
            <p:nvPr/>
          </p:nvSpPr>
          <p:spPr>
            <a:xfrm>
              <a:off x="8918575" y="1636713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32" name="Picture 26">
              <a:extLst>
                <a:ext uri="{FF2B5EF4-FFF2-40B4-BE49-F238E27FC236}">
                  <a16:creationId xmlns:a16="http://schemas.microsoft.com/office/drawing/2014/main" id="{61596992-9799-514A-BA50-88F12F152D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9863" y="1790700"/>
              <a:ext cx="47942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EF7FD3-370D-FA48-93E9-A6A157D1C4A0}"/>
              </a:ext>
            </a:extLst>
          </p:cNvPr>
          <p:cNvGrpSpPr/>
          <p:nvPr userDrawn="1"/>
        </p:nvGrpSpPr>
        <p:grpSpPr>
          <a:xfrm>
            <a:off x="9907386" y="5125219"/>
            <a:ext cx="762000" cy="762000"/>
            <a:chOff x="8918575" y="1636713"/>
            <a:chExt cx="762000" cy="762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171181-4244-7F4B-9015-7E8A8F98DBAC}"/>
                </a:ext>
              </a:extLst>
            </p:cNvPr>
            <p:cNvSpPr/>
            <p:nvPr/>
          </p:nvSpPr>
          <p:spPr>
            <a:xfrm>
              <a:off x="8918575" y="1636713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35" name="Picture 26">
              <a:extLst>
                <a:ext uri="{FF2B5EF4-FFF2-40B4-BE49-F238E27FC236}">
                  <a16:creationId xmlns:a16="http://schemas.microsoft.com/office/drawing/2014/main" id="{DC6DBD23-DCEB-DC44-BA91-9F2FF9ED8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9863" y="1790700"/>
              <a:ext cx="47942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D5A5B4-2342-A445-B3EF-83851824F908}"/>
              </a:ext>
            </a:extLst>
          </p:cNvPr>
          <p:cNvGrpSpPr/>
          <p:nvPr userDrawn="1"/>
        </p:nvGrpSpPr>
        <p:grpSpPr>
          <a:xfrm>
            <a:off x="578746" y="690151"/>
            <a:ext cx="762000" cy="762000"/>
            <a:chOff x="1227138" y="1636713"/>
            <a:chExt cx="762000" cy="762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C131601-F356-A942-88A1-48BAC6C42083}"/>
                </a:ext>
              </a:extLst>
            </p:cNvPr>
            <p:cNvSpPr/>
            <p:nvPr/>
          </p:nvSpPr>
          <p:spPr>
            <a:xfrm>
              <a:off x="1227138" y="1636713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38" name="Picture 80">
              <a:extLst>
                <a:ext uri="{FF2B5EF4-FFF2-40B4-BE49-F238E27FC236}">
                  <a16:creationId xmlns:a16="http://schemas.microsoft.com/office/drawing/2014/main" id="{AB2B8421-F715-264A-8289-589001D479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425" y="1790700"/>
              <a:ext cx="47942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0B18BD-16BB-1048-A6D2-4ADBEA769278}"/>
              </a:ext>
            </a:extLst>
          </p:cNvPr>
          <p:cNvGrpSpPr/>
          <p:nvPr userDrawn="1"/>
        </p:nvGrpSpPr>
        <p:grpSpPr>
          <a:xfrm>
            <a:off x="6095999" y="6138086"/>
            <a:ext cx="762000" cy="762000"/>
            <a:chOff x="1227138" y="1636713"/>
            <a:chExt cx="762000" cy="762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BB906D-64D8-B942-8DA4-15D6F58A9E22}"/>
                </a:ext>
              </a:extLst>
            </p:cNvPr>
            <p:cNvSpPr/>
            <p:nvPr/>
          </p:nvSpPr>
          <p:spPr>
            <a:xfrm>
              <a:off x="1227138" y="1636713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41" name="Picture 80">
              <a:extLst>
                <a:ext uri="{FF2B5EF4-FFF2-40B4-BE49-F238E27FC236}">
                  <a16:creationId xmlns:a16="http://schemas.microsoft.com/office/drawing/2014/main" id="{67498ADC-6235-E541-BC09-A3A9ABA2C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425" y="1790700"/>
              <a:ext cx="47942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4AB7E2E-3101-CB4D-A7A3-CB6A517C2C46}"/>
              </a:ext>
            </a:extLst>
          </p:cNvPr>
          <p:cNvGrpSpPr/>
          <p:nvPr userDrawn="1"/>
        </p:nvGrpSpPr>
        <p:grpSpPr>
          <a:xfrm>
            <a:off x="11362094" y="2030698"/>
            <a:ext cx="762000" cy="762000"/>
            <a:chOff x="1227138" y="1636713"/>
            <a:chExt cx="762000" cy="762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038006D-7AD3-7D4D-B5A8-503A5C794EB4}"/>
                </a:ext>
              </a:extLst>
            </p:cNvPr>
            <p:cNvSpPr/>
            <p:nvPr/>
          </p:nvSpPr>
          <p:spPr>
            <a:xfrm>
              <a:off x="1227138" y="1636713"/>
              <a:ext cx="762000" cy="76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44" name="Picture 80">
              <a:extLst>
                <a:ext uri="{FF2B5EF4-FFF2-40B4-BE49-F238E27FC236}">
                  <a16:creationId xmlns:a16="http://schemas.microsoft.com/office/drawing/2014/main" id="{5C6E659F-E781-1A4A-B3FF-E4EA164FF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425" y="1790700"/>
              <a:ext cx="479425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638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C98D698-AFDC-6D4B-8296-FFB604B222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53C992-2F3C-3B4D-B31A-9F61B7BF22A5}"/>
              </a:ext>
            </a:extLst>
          </p:cNvPr>
          <p:cNvSpPr/>
          <p:nvPr userDrawn="1"/>
        </p:nvSpPr>
        <p:spPr>
          <a:xfrm>
            <a:off x="3705225" y="1038225"/>
            <a:ext cx="4781550" cy="4781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160F-C19B-EE42-9451-261543CDA9A2}"/>
              </a:ext>
            </a:extLst>
          </p:cNvPr>
          <p:cNvSpPr/>
          <p:nvPr userDrawn="1"/>
        </p:nvSpPr>
        <p:spPr>
          <a:xfrm>
            <a:off x="3433763" y="766763"/>
            <a:ext cx="5324475" cy="53244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4733D-5D9D-474E-9138-A24080A8C881}"/>
              </a:ext>
            </a:extLst>
          </p:cNvPr>
          <p:cNvSpPr/>
          <p:nvPr userDrawn="1"/>
        </p:nvSpPr>
        <p:spPr>
          <a:xfrm>
            <a:off x="3003550" y="336550"/>
            <a:ext cx="6184900" cy="618490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516965-5726-0C47-8E8F-AD67AC6418AB}"/>
              </a:ext>
            </a:extLst>
          </p:cNvPr>
          <p:cNvSpPr/>
          <p:nvPr userDrawn="1"/>
        </p:nvSpPr>
        <p:spPr>
          <a:xfrm>
            <a:off x="1433513" y="-1233488"/>
            <a:ext cx="9324975" cy="9324976"/>
          </a:xfrm>
          <a:prstGeom prst="ellipse">
            <a:avLst/>
          </a:prstGeom>
          <a:noFill/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D13853-20AD-C041-B0E2-D4CAE36A8430}"/>
              </a:ext>
            </a:extLst>
          </p:cNvPr>
          <p:cNvSpPr/>
          <p:nvPr userDrawn="1"/>
        </p:nvSpPr>
        <p:spPr>
          <a:xfrm>
            <a:off x="466725" y="-2200275"/>
            <a:ext cx="11258550" cy="112585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A1703-F6D7-BE41-B54A-2D6B2534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129" y="1038129"/>
            <a:ext cx="4781743" cy="4781742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34973AD-1E8E-D84A-A481-BD656572CF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2"/>
              </a:solidFill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D06C986-9E12-0345-875F-5C3A9BF05D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2021.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60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4A5EFC-D932-B04F-8B24-A4B09D178A3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B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71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FF9B81CE-DB02-5B42-A9A8-24C10ABDF8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4A9584A2-0DE8-0E40-A014-14BF2B34D0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8" y="503238"/>
            <a:ext cx="2994025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0BB4365-35E6-4245-B9C7-31FEA4BF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98" y="5006052"/>
            <a:ext cx="10787604" cy="679886"/>
          </a:xfrm>
        </p:spPr>
        <p:txBody>
          <a:bodyPr>
            <a:normAutofit/>
          </a:bodyPr>
          <a:lstStyle>
            <a:lvl1pPr algn="ctr">
              <a:defRPr sz="42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21CEBB6-FC9D-3446-B5F4-4F3EEDE6F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43125" y="5784706"/>
            <a:ext cx="7905750" cy="317125"/>
          </a:xfrm>
        </p:spPr>
        <p:txBody>
          <a:bodyPr anchor="ctr">
            <a:noAutofit/>
          </a:bodyPr>
          <a:lstStyle>
            <a:lvl1pPr marL="0" indent="0" algn="ctr">
              <a:buNone/>
              <a:defRPr sz="260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9C20062-7E55-914F-9D93-6C382AD85D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0350" y="6276495"/>
            <a:ext cx="4051300" cy="33632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551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C90D4B-3178-C146-B471-0D058D6D0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63A59-B9EA-3C41-B100-EECF3A31029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>
                    <a:lumMod val="75000"/>
                  </a:schemeClr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A48A5-9CD6-804B-A63D-FA7A74F1C9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B9D2434-FCD2-5444-8B5C-7C38103F90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784269E-8DC1-9D48-9168-D60CDA1975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88281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C90D4B-3178-C146-B471-0D058D6D0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63A59-B9EA-3C41-B100-EECF3A31029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>
                    <a:lumMod val="75000"/>
                  </a:schemeClr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A48A5-9CD6-804B-A63D-FA7A74F1C9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B9D2434-FCD2-5444-8B5C-7C38103F90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784269E-8DC1-9D48-9168-D60CDA1975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591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337FC9CB-B947-9F4C-85C2-2564FD4356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6250"/>
          <a:stretch/>
        </p:blipFill>
        <p:spPr bwMode="auto">
          <a:xfrm>
            <a:off x="1965325" y="0"/>
            <a:ext cx="1021079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63A59-B9EA-3C41-B100-EECF3A31029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>
                    <a:lumMod val="75000"/>
                  </a:schemeClr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A48A5-9CD6-804B-A63D-FA7A74F1C9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B9D2434-FCD2-5444-8B5C-7C38103F90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784269E-8DC1-9D48-9168-D60CDA1975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11BFA98-ACC7-E347-8BAE-B57042FA6C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6289675"/>
            <a:ext cx="16573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6674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FB169F-DA4B-9E44-9C57-925270D68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FF51AE4A-6F0A-B543-A279-9C8ACCD66A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A8032169-CE99-0F4B-8A3C-57C996C973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/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7206482-6425-CC4A-9859-4E9E3A3716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EFAD81DA-2BD2-E34D-AC0F-CE04B46E47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9534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old F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FB169F-DA4B-9E44-9C57-925270D68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FF51AE4A-6F0A-B543-A279-9C8ACCD66A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A8032169-CE99-0F4B-8A3C-57C996C973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/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7206482-6425-CC4A-9859-4E9E3A3716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76467C64-7217-2D40-B9E9-2E23C68BB1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1161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B60557-3A49-E947-AFD9-DE0FDD89291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F51AE4A-6F0A-B543-A279-9C8ACCD66A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bg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bg1"/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A8032169-CE99-0F4B-8A3C-57C996C973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/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2020. All rights reserved.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7206482-6425-CC4A-9859-4E9E3A3716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339713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8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Confidential – for SailPoint employees and partners only</a:t>
            </a:r>
            <a:endParaRPr lang="en-US" altLang="en-US" sz="800">
              <a:solidFill>
                <a:schemeClr val="bg1"/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76467C64-7217-2D40-B9E9-2E23C68BB1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6119813"/>
            <a:ext cx="1982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85EBB0-CE2A-F446-8BEF-59FCEB42C334}"/>
              </a:ext>
            </a:extLst>
          </p:cNvPr>
          <p:cNvCxnSpPr/>
          <p:nvPr userDrawn="1"/>
        </p:nvCxnSpPr>
        <p:spPr>
          <a:xfrm flipV="1">
            <a:off x="4337050" y="849313"/>
            <a:ext cx="0" cy="50117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874D3BA-CAD0-AA4E-B294-2EAAE8941C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35960" y="848935"/>
            <a:ext cx="7121747" cy="5011370"/>
          </a:xfrm>
        </p:spPr>
        <p:txBody>
          <a:bodyPr anchor="ctr"/>
          <a:lstStyle>
            <a:lvl1pPr marL="457200" indent="-457200">
              <a:spcBef>
                <a:spcPts val="2000"/>
              </a:spcBef>
              <a:buFont typeface="Arial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167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3B9142-5D16-1C47-91BE-64FF8878608D}"/>
              </a:ext>
            </a:extLst>
          </p:cNvPr>
          <p:cNvSpPr/>
          <p:nvPr userDrawn="1"/>
        </p:nvSpPr>
        <p:spPr>
          <a:xfrm>
            <a:off x="606669" y="1143000"/>
            <a:ext cx="11007969" cy="1406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85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no SailPoi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5AB27A-A3B6-8E45-B193-5ADBFEF643DD}"/>
              </a:ext>
            </a:extLst>
          </p:cNvPr>
          <p:cNvSpPr/>
          <p:nvPr userDrawn="1"/>
        </p:nvSpPr>
        <p:spPr>
          <a:xfrm>
            <a:off x="285226" y="6266576"/>
            <a:ext cx="1744910" cy="3691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528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page, no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61" y="6289473"/>
            <a:ext cx="1657214" cy="333428"/>
          </a:xfrm>
          <a:prstGeom prst="rect">
            <a:avLst/>
          </a:prstGeom>
        </p:spPr>
      </p:pic>
      <p:cxnSp>
        <p:nvCxnSpPr>
          <p:cNvPr id="5" name="Straight Connector 4"/>
          <p:cNvCxnSpPr/>
          <p:nvPr userDrawn="1"/>
        </p:nvCxnSpPr>
        <p:spPr>
          <a:xfrm>
            <a:off x="662504" y="1205725"/>
            <a:ext cx="10842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8370151" y="6473839"/>
            <a:ext cx="3135083" cy="15768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en-US" sz="800" kern="12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  <a:cs typeface="Helvetica Light"/>
              </a:rPr>
              <a:t>Copyright © SailPoint Technologies, Inc. 2017. All rights reserved.</a:t>
            </a:r>
            <a:endParaRPr lang="en-US" altLang="en-US" dirty="0">
              <a:ea typeface="ＭＳ Ｐゴシック" charset="0"/>
              <a:cs typeface="Helvetica Ligh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467874" y="6390243"/>
            <a:ext cx="381000" cy="33740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109FD2-9AB6-A946-9095-0F6A7411577A}" type="slidenum">
              <a:rPr lang="en-US" sz="8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143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F229A491-41F5-7147-8079-3A8B5106F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273050"/>
            <a:ext cx="10842625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F5356C46-C340-C642-9D4C-EB1D276DE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1988" y="1593850"/>
            <a:ext cx="10868025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B431EA-E08D-5446-BA01-4963499CEFE0}"/>
              </a:ext>
            </a:extLst>
          </p:cNvPr>
          <p:cNvCxnSpPr/>
          <p:nvPr/>
        </p:nvCxnSpPr>
        <p:spPr>
          <a:xfrm>
            <a:off x="661988" y="1206500"/>
            <a:ext cx="108426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7">
            <a:extLst>
              <a:ext uri="{FF2B5EF4-FFF2-40B4-BE49-F238E27FC236}">
                <a16:creationId xmlns:a16="http://schemas.microsoft.com/office/drawing/2014/main" id="{6FF7B9F8-55BB-BE42-946B-8019F35F88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8100" y="6389688"/>
            <a:ext cx="38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DFE6F2-D2AA-8240-B4A9-4C58203ACEFF}" type="slidenum">
              <a:rPr lang="en-US" altLang="en-US" sz="800">
                <a:solidFill>
                  <a:schemeClr val="tx1"/>
                </a:solidFill>
              </a:rPr>
              <a:pPr algn="r" eaLnBrk="1" hangingPunct="1"/>
              <a:t>‹#›</a:t>
            </a:fld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7B07BD6-C94F-D648-A091-C3D79F733F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27975" y="6473825"/>
            <a:ext cx="3576638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0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Helvetica Light" panose="020B0403020202020204" pitchFamily="34" charset="0"/>
              </a:rPr>
              <a:t>Copyright © SailPoint Technologies Holdings, Inc. 2021. All rights reserved.</a:t>
            </a:r>
            <a:endParaRPr lang="en-US" altLang="en-US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Helvetica Light" panose="020B0403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6" r:id="rId3"/>
    <p:sldLayoutId id="2147483717" r:id="rId4"/>
    <p:sldLayoutId id="2147483693" r:id="rId5"/>
    <p:sldLayoutId id="2147483719" r:id="rId6"/>
    <p:sldLayoutId id="2147483694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29" r:id="rId15"/>
    <p:sldLayoutId id="2147483728" r:id="rId16"/>
    <p:sldLayoutId id="2147483732" r:id="rId17"/>
    <p:sldLayoutId id="2147483713" r:id="rId18"/>
    <p:sldLayoutId id="2147483715" r:id="rId19"/>
    <p:sldLayoutId id="2147483716" r:id="rId20"/>
    <p:sldLayoutId id="2147483727" r:id="rId21"/>
    <p:sldLayoutId id="2147483725" r:id="rId22"/>
    <p:sldLayoutId id="2147483724" r:id="rId23"/>
    <p:sldLayoutId id="2147483726" r:id="rId24"/>
    <p:sldLayoutId id="2147483730" r:id="rId25"/>
    <p:sldLayoutId id="2147483733" r:id="rId26"/>
    <p:sldLayoutId id="2147483734" r:id="rId27"/>
    <p:sldLayoutId id="2147483735" r:id="rId2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2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CE88FE19-3317-EA4A-9294-380F49823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2198" y="4917275"/>
            <a:ext cx="10787604" cy="679886"/>
          </a:xfrm>
        </p:spPr>
        <p:txBody>
          <a:bodyPr>
            <a:normAutofit/>
          </a:bodyPr>
          <a:lstStyle/>
          <a:p>
            <a:r>
              <a:rPr lang="en-GB" altLang="en-US" dirty="0"/>
              <a:t>Building Access in </a:t>
            </a:r>
            <a:r>
              <a:rPr lang="en-GB" altLang="en-US" dirty="0" err="1"/>
              <a:t>IdentityNow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336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EB0251-6B8B-B542-8AFE-125EB290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Model Components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A1A068-845B-B140-8E0F-F4BB3BF707B9}"/>
              </a:ext>
            </a:extLst>
          </p:cNvPr>
          <p:cNvGrpSpPr/>
          <p:nvPr/>
        </p:nvGrpSpPr>
        <p:grpSpPr>
          <a:xfrm>
            <a:off x="895085" y="1643002"/>
            <a:ext cx="10610149" cy="954107"/>
            <a:chOff x="895085" y="1643002"/>
            <a:chExt cx="10610149" cy="9541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43BDEB-DE60-864F-8E71-8ABAC890E73B}"/>
                </a:ext>
              </a:extLst>
            </p:cNvPr>
            <p:cNvGrpSpPr/>
            <p:nvPr/>
          </p:nvGrpSpPr>
          <p:grpSpPr>
            <a:xfrm>
              <a:off x="895085" y="1643002"/>
              <a:ext cx="731520" cy="731520"/>
              <a:chOff x="5622616" y="1745857"/>
              <a:chExt cx="914400" cy="9144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7C946AD-1644-3944-A247-B98B70989350}"/>
                  </a:ext>
                </a:extLst>
              </p:cNvPr>
              <p:cNvSpPr/>
              <p:nvPr/>
            </p:nvSpPr>
            <p:spPr>
              <a:xfrm>
                <a:off x="5622616" y="1745857"/>
                <a:ext cx="914400" cy="914400"/>
              </a:xfrm>
              <a:prstGeom prst="ellipse">
                <a:avLst/>
              </a:prstGeom>
              <a:solidFill>
                <a:srgbClr val="00206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45EFB398-2D87-A14F-8F6D-E3472FC3AD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878648" y="1973151"/>
                <a:ext cx="402336" cy="459813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9E32AA-5561-E148-BFCB-C0C96700750D}"/>
                </a:ext>
              </a:extLst>
            </p:cNvPr>
            <p:cNvSpPr txBox="1"/>
            <p:nvPr/>
          </p:nvSpPr>
          <p:spPr>
            <a:xfrm>
              <a:off x="2008036" y="1643002"/>
              <a:ext cx="94971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Identity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A representation of a person or service and all the information associated with them. </a:t>
              </a:r>
              <a:br>
                <a:rPr lang="en-US" dirty="0">
                  <a:solidFill>
                    <a:srgbClr val="00B0F0"/>
                  </a:solidFill>
                </a:rPr>
              </a:br>
              <a:r>
                <a:rPr lang="en-US" dirty="0">
                  <a:solidFill>
                    <a:srgbClr val="00B0F0"/>
                  </a:solidFill>
                </a:rPr>
                <a:t>This includes security-relevant information as well as current status in the organization.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E27922-3075-0446-B6F3-F1EDD136BD44}"/>
              </a:ext>
            </a:extLst>
          </p:cNvPr>
          <p:cNvGrpSpPr/>
          <p:nvPr/>
        </p:nvGrpSpPr>
        <p:grpSpPr>
          <a:xfrm>
            <a:off x="895085" y="2983896"/>
            <a:ext cx="10610149" cy="954107"/>
            <a:chOff x="895085" y="2983896"/>
            <a:chExt cx="10610149" cy="95410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7F41BC-5FD5-F748-A502-AE52621F63A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5085" y="2983896"/>
              <a:ext cx="731520" cy="731520"/>
              <a:chOff x="4543109" y="3291267"/>
              <a:chExt cx="755257" cy="755257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18AEDDF-88E2-D64E-8129-035CB6DF8697}"/>
                  </a:ext>
                </a:extLst>
              </p:cNvPr>
              <p:cNvSpPr/>
              <p:nvPr/>
            </p:nvSpPr>
            <p:spPr>
              <a:xfrm>
                <a:off x="4543109" y="3291267"/>
                <a:ext cx="755257" cy="755257"/>
              </a:xfrm>
              <a:prstGeom prst="ellipse">
                <a:avLst/>
              </a:prstGeom>
              <a:solidFill>
                <a:srgbClr val="00206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E26482E4-B185-F647-A5F2-F538425FF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31923" y="3480081"/>
                <a:ext cx="377628" cy="377628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470412-74A0-3D41-B4CB-554F74FB2187}"/>
                </a:ext>
              </a:extLst>
            </p:cNvPr>
            <p:cNvSpPr txBox="1"/>
            <p:nvPr/>
          </p:nvSpPr>
          <p:spPr>
            <a:xfrm>
              <a:off x="2008036" y="2983896"/>
              <a:ext cx="94971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Account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A representation of an identity on a source system.  This user account contains information about the identity and may also contain accesses as well.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8D47FA-23C0-5E40-9663-EAD9C80302C8}"/>
              </a:ext>
            </a:extLst>
          </p:cNvPr>
          <p:cNvGrpSpPr/>
          <p:nvPr/>
        </p:nvGrpSpPr>
        <p:grpSpPr>
          <a:xfrm>
            <a:off x="895085" y="4324790"/>
            <a:ext cx="10610149" cy="1785104"/>
            <a:chOff x="895085" y="4324790"/>
            <a:chExt cx="10610149" cy="178510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A6D9442-22E0-A94D-9E1C-CDA293C372E8}"/>
                </a:ext>
              </a:extLst>
            </p:cNvPr>
            <p:cNvGrpSpPr/>
            <p:nvPr/>
          </p:nvGrpSpPr>
          <p:grpSpPr>
            <a:xfrm>
              <a:off x="895085" y="4324790"/>
              <a:ext cx="731520" cy="731520"/>
              <a:chOff x="4112102" y="4552276"/>
              <a:chExt cx="755257" cy="75525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8663325-5E3D-1047-8793-A0BDB0195873}"/>
                  </a:ext>
                </a:extLst>
              </p:cNvPr>
              <p:cNvSpPr/>
              <p:nvPr/>
            </p:nvSpPr>
            <p:spPr>
              <a:xfrm>
                <a:off x="4112102" y="4552276"/>
                <a:ext cx="755257" cy="755257"/>
              </a:xfrm>
              <a:prstGeom prst="ellipse">
                <a:avLst/>
              </a:prstGeom>
              <a:solidFill>
                <a:srgbClr val="00206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96E7C7CE-4581-F94A-8DF2-012332E3F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00916" y="4741090"/>
                <a:ext cx="377628" cy="377628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2FAAF8-F8BA-2E4C-AE7E-B53A735F11FE}"/>
                </a:ext>
              </a:extLst>
            </p:cNvPr>
            <p:cNvSpPr txBox="1"/>
            <p:nvPr/>
          </p:nvSpPr>
          <p:spPr>
            <a:xfrm>
              <a:off x="2008036" y="4324790"/>
              <a:ext cx="949719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Access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These are securities which grant accounts an ability to perform actions.  They define what a user can and can’t do in a system.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On a source these may be known as entitlements, authorizations, groups, rights, permissions, etc.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B0F0"/>
                  </a:solidFill>
                </a:rPr>
                <a:t>Access can also be defined through roles and access profiles too.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289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CF2F952-2502-FC48-9CB7-40BF1CF6D58B}"/>
              </a:ext>
            </a:extLst>
          </p:cNvPr>
          <p:cNvGrpSpPr/>
          <p:nvPr/>
        </p:nvGrpSpPr>
        <p:grpSpPr>
          <a:xfrm>
            <a:off x="1719009" y="1499882"/>
            <a:ext cx="9151194" cy="2948186"/>
            <a:chOff x="1719009" y="1499882"/>
            <a:chExt cx="9151194" cy="2948186"/>
          </a:xfrm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8EE682F-13CD-D342-95F5-68326E31FCA2}"/>
                </a:ext>
              </a:extLst>
            </p:cNvPr>
            <p:cNvCxnSpPr>
              <a:cxnSpLocks/>
            </p:cNvCxnSpPr>
            <p:nvPr/>
          </p:nvCxnSpPr>
          <p:spPr>
            <a:xfrm>
              <a:off x="1719009" y="3787661"/>
              <a:ext cx="9144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01E02448-24EF-4A40-9969-20A92E5E492A}"/>
                </a:ext>
              </a:extLst>
            </p:cNvPr>
            <p:cNvCxnSpPr>
              <a:cxnSpLocks/>
            </p:cNvCxnSpPr>
            <p:nvPr/>
          </p:nvCxnSpPr>
          <p:spPr>
            <a:xfrm>
              <a:off x="1719009" y="2394045"/>
              <a:ext cx="9144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EDE9FDA-33C6-3744-AF51-4909AF8BF7B1}"/>
                </a:ext>
              </a:extLst>
            </p:cNvPr>
            <p:cNvSpPr txBox="1"/>
            <p:nvPr/>
          </p:nvSpPr>
          <p:spPr>
            <a:xfrm>
              <a:off x="10037924" y="1499882"/>
              <a:ext cx="7617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Identity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967B6C0-1EBE-454F-9B04-E8DE76427E47}"/>
                </a:ext>
              </a:extLst>
            </p:cNvPr>
            <p:cNvSpPr txBox="1"/>
            <p:nvPr/>
          </p:nvSpPr>
          <p:spPr>
            <a:xfrm>
              <a:off x="10037924" y="2917282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Account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E7E0FEA-39BF-BD47-BCE2-A96F0A09EB4D}"/>
                </a:ext>
              </a:extLst>
            </p:cNvPr>
            <p:cNvSpPr txBox="1"/>
            <p:nvPr/>
          </p:nvSpPr>
          <p:spPr>
            <a:xfrm>
              <a:off x="10037924" y="4140291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Access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D93669-C093-6446-9972-5ECBE96B167E}"/>
              </a:ext>
            </a:extLst>
          </p:cNvPr>
          <p:cNvGrpSpPr/>
          <p:nvPr/>
        </p:nvGrpSpPr>
        <p:grpSpPr>
          <a:xfrm>
            <a:off x="2998823" y="4431803"/>
            <a:ext cx="874313" cy="909230"/>
            <a:chOff x="4731033" y="4872245"/>
            <a:chExt cx="874313" cy="909230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CC46C76-337A-BB47-B3B7-0073C216C15C}"/>
                </a:ext>
              </a:extLst>
            </p:cNvPr>
            <p:cNvCxnSpPr>
              <a:cxnSpLocks/>
              <a:endCxn id="76" idx="2"/>
            </p:cNvCxnSpPr>
            <p:nvPr/>
          </p:nvCxnSpPr>
          <p:spPr>
            <a:xfrm flipH="1" flipV="1">
              <a:off x="5182920" y="4872245"/>
              <a:ext cx="422426" cy="90923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03A4B6B-46A2-B742-9CAD-84A6C61F311D}"/>
                </a:ext>
              </a:extLst>
            </p:cNvPr>
            <p:cNvCxnSpPr>
              <a:cxnSpLocks/>
              <a:endCxn id="76" idx="2"/>
            </p:cNvCxnSpPr>
            <p:nvPr/>
          </p:nvCxnSpPr>
          <p:spPr>
            <a:xfrm flipV="1">
              <a:off x="4731033" y="4872245"/>
              <a:ext cx="451887" cy="90923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68B77C3-84EE-FB4A-A1A5-9212A5363FE8}"/>
              </a:ext>
            </a:extLst>
          </p:cNvPr>
          <p:cNvGrpSpPr/>
          <p:nvPr/>
        </p:nvGrpSpPr>
        <p:grpSpPr>
          <a:xfrm>
            <a:off x="3467143" y="3111856"/>
            <a:ext cx="4868074" cy="1187539"/>
            <a:chOff x="3467143" y="3066799"/>
            <a:chExt cx="4868074" cy="1187539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FC7B456-5830-0549-A531-181617331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14185" y="3197451"/>
              <a:ext cx="421032" cy="1047657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233F9EB-5517-D241-8C48-DBEE4EAE9F53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7482563" y="3197451"/>
              <a:ext cx="411480" cy="105657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CBA7CBF-9E1D-F946-9849-B052C6E844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74428" y="3074904"/>
              <a:ext cx="848636" cy="1179116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AA86035-8B85-E746-977E-1A4F0D9CA74C}"/>
                </a:ext>
              </a:extLst>
            </p:cNvPr>
            <p:cNvCxnSpPr>
              <a:cxnSpLocks/>
              <a:stCxn id="34" idx="0"/>
              <a:endCxn id="16" idx="2"/>
            </p:cNvCxnSpPr>
            <p:nvPr/>
          </p:nvCxnSpPr>
          <p:spPr>
            <a:xfrm flipV="1">
              <a:off x="4277222" y="3197451"/>
              <a:ext cx="0" cy="777815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31079A5-AB5B-6544-A699-8A15F7E0F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143" y="3066799"/>
              <a:ext cx="821287" cy="1187539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61A0969-4456-E943-8E11-118B3B91D73A}"/>
              </a:ext>
            </a:extLst>
          </p:cNvPr>
          <p:cNvGrpSpPr/>
          <p:nvPr/>
        </p:nvGrpSpPr>
        <p:grpSpPr>
          <a:xfrm>
            <a:off x="4288430" y="1652727"/>
            <a:ext cx="3625755" cy="1482636"/>
            <a:chOff x="4288430" y="2093169"/>
            <a:chExt cx="3625755" cy="1482636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07119C8-7E1A-0F43-AE8B-ABACED583B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0257" y="2093169"/>
              <a:ext cx="1823928" cy="1463185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B708A69-D6B4-B144-8476-7FE9377CC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2093169"/>
              <a:ext cx="9304" cy="1482636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FCC9E7E-22A4-D64B-A279-7D9E5C20B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8430" y="2093171"/>
              <a:ext cx="1807569" cy="1463183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85EE77-972F-9641-9F1B-327A172B5E29}"/>
              </a:ext>
            </a:extLst>
          </p:cNvPr>
          <p:cNvGrpSpPr/>
          <p:nvPr/>
        </p:nvGrpSpPr>
        <p:grpSpPr>
          <a:xfrm>
            <a:off x="5638799" y="1196340"/>
            <a:ext cx="914400" cy="914400"/>
            <a:chOff x="5622616" y="1745857"/>
            <a:chExt cx="914400" cy="9144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962BCBA-F0BB-094F-A28A-1AA8832C0263}"/>
                </a:ext>
              </a:extLst>
            </p:cNvPr>
            <p:cNvSpPr/>
            <p:nvPr/>
          </p:nvSpPr>
          <p:spPr>
            <a:xfrm>
              <a:off x="5622616" y="1745857"/>
              <a:ext cx="914400" cy="914400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CC9F839-3085-214B-A7A1-65115F7DE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78648" y="1973151"/>
              <a:ext cx="402336" cy="459813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413BB590-2B2D-6E47-B15A-E47EB01E4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0990" y="450963"/>
            <a:ext cx="390019" cy="44573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C9241DC-A0D2-4F44-8394-C7C9D0983FE0}"/>
              </a:ext>
            </a:extLst>
          </p:cNvPr>
          <p:cNvGrpSpPr>
            <a:grpSpLocks noChangeAspect="1"/>
          </p:cNvGrpSpPr>
          <p:nvPr/>
        </p:nvGrpSpPr>
        <p:grpSpPr>
          <a:xfrm>
            <a:off x="4002902" y="2831028"/>
            <a:ext cx="548640" cy="548640"/>
            <a:chOff x="4543109" y="3291267"/>
            <a:chExt cx="755257" cy="7552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18C29C9-0079-5E4F-BDDE-978D26EB9B06}"/>
                </a:ext>
              </a:extLst>
            </p:cNvPr>
            <p:cNvSpPr/>
            <p:nvPr/>
          </p:nvSpPr>
          <p:spPr>
            <a:xfrm>
              <a:off x="4543109" y="3291267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0892C1C-40A0-0841-AB7B-5ACFCC629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31923" y="3480081"/>
              <a:ext cx="377628" cy="37762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69F81B-B329-EC45-8D27-88AF4AA34EC1}"/>
              </a:ext>
            </a:extLst>
          </p:cNvPr>
          <p:cNvGrpSpPr/>
          <p:nvPr/>
        </p:nvGrpSpPr>
        <p:grpSpPr>
          <a:xfrm>
            <a:off x="5820704" y="2831028"/>
            <a:ext cx="548640" cy="548640"/>
            <a:chOff x="4543109" y="3291267"/>
            <a:chExt cx="755257" cy="75525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65376E9-201F-C74B-B0AD-746251745C6E}"/>
                </a:ext>
              </a:extLst>
            </p:cNvPr>
            <p:cNvSpPr/>
            <p:nvPr/>
          </p:nvSpPr>
          <p:spPr>
            <a:xfrm>
              <a:off x="4543109" y="3291267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F172DC6-AEC7-F64A-8671-7927FB66F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31923" y="3480081"/>
              <a:ext cx="377628" cy="3776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04F332-992C-254E-B65D-245DFE34825B}"/>
              </a:ext>
            </a:extLst>
          </p:cNvPr>
          <p:cNvGrpSpPr/>
          <p:nvPr/>
        </p:nvGrpSpPr>
        <p:grpSpPr>
          <a:xfrm>
            <a:off x="7619723" y="2831028"/>
            <a:ext cx="548640" cy="548640"/>
            <a:chOff x="4543109" y="3291267"/>
            <a:chExt cx="755257" cy="75525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098556B-85FA-E44E-BEC1-C7103C35AC6E}"/>
                </a:ext>
              </a:extLst>
            </p:cNvPr>
            <p:cNvSpPr/>
            <p:nvPr/>
          </p:nvSpPr>
          <p:spPr>
            <a:xfrm>
              <a:off x="4543109" y="3291267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28DC17B4-5417-2C4D-87FD-DDA5F76E0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31923" y="3480081"/>
              <a:ext cx="377628" cy="37762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088BC6-951B-194F-A437-5D282774F6B3}"/>
              </a:ext>
            </a:extLst>
          </p:cNvPr>
          <p:cNvGrpSpPr/>
          <p:nvPr/>
        </p:nvGrpSpPr>
        <p:grpSpPr>
          <a:xfrm>
            <a:off x="4002902" y="4020323"/>
            <a:ext cx="548640" cy="548640"/>
            <a:chOff x="4112102" y="4552276"/>
            <a:chExt cx="755257" cy="75525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F583A9F-DA72-B441-8F85-88328821AB02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BC4A988F-84A9-1F4D-9DA4-E2489ED98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4F605BA-321C-D04C-B8E7-D087094B37D4}"/>
              </a:ext>
            </a:extLst>
          </p:cNvPr>
          <p:cNvSpPr/>
          <p:nvPr/>
        </p:nvSpPr>
        <p:spPr>
          <a:xfrm>
            <a:off x="6646628" y="1258082"/>
            <a:ext cx="618542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25798CA-5EC9-5841-8A0A-E9007BD0E004}"/>
              </a:ext>
            </a:extLst>
          </p:cNvPr>
          <p:cNvSpPr/>
          <p:nvPr/>
        </p:nvSpPr>
        <p:spPr>
          <a:xfrm>
            <a:off x="6646628" y="1434830"/>
            <a:ext cx="354114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7A3B987-16A3-9C4D-B4E8-5498D927ABBB}"/>
              </a:ext>
            </a:extLst>
          </p:cNvPr>
          <p:cNvSpPr/>
          <p:nvPr/>
        </p:nvSpPr>
        <p:spPr>
          <a:xfrm>
            <a:off x="6646628" y="1611578"/>
            <a:ext cx="754319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8D6C4F-2757-DB43-B213-FDB7FB742743}"/>
              </a:ext>
            </a:extLst>
          </p:cNvPr>
          <p:cNvSpPr/>
          <p:nvPr/>
        </p:nvSpPr>
        <p:spPr>
          <a:xfrm>
            <a:off x="6646628" y="1788326"/>
            <a:ext cx="622106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F7E2550-2378-674D-AB91-33480BFD7F30}"/>
              </a:ext>
            </a:extLst>
          </p:cNvPr>
          <p:cNvSpPr/>
          <p:nvPr/>
        </p:nvSpPr>
        <p:spPr>
          <a:xfrm>
            <a:off x="6646628" y="1965073"/>
            <a:ext cx="348927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0DCEFC5-9092-5646-BA91-C9350F72437B}"/>
              </a:ext>
            </a:extLst>
          </p:cNvPr>
          <p:cNvGrpSpPr/>
          <p:nvPr/>
        </p:nvGrpSpPr>
        <p:grpSpPr>
          <a:xfrm>
            <a:off x="4848744" y="4025075"/>
            <a:ext cx="548640" cy="548640"/>
            <a:chOff x="4112102" y="4552276"/>
            <a:chExt cx="755257" cy="755257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B2F4793-7035-A340-98D1-225E3044AD07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E32AE2C5-AC09-CB41-B5CB-87C29D413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3C1BCAF-6463-8F47-857B-E78446B472B4}"/>
              </a:ext>
            </a:extLst>
          </p:cNvPr>
          <p:cNvGrpSpPr/>
          <p:nvPr/>
        </p:nvGrpSpPr>
        <p:grpSpPr>
          <a:xfrm>
            <a:off x="3176390" y="4020323"/>
            <a:ext cx="548640" cy="548640"/>
            <a:chOff x="4112102" y="4552276"/>
            <a:chExt cx="755257" cy="755257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47FC449-A2DC-D24C-84C1-D5600608543F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E6AB3425-ADFE-2346-9B58-28D2240A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81BD03-60C3-0544-9543-2424B990293A}"/>
              </a:ext>
            </a:extLst>
          </p:cNvPr>
          <p:cNvGrpSpPr/>
          <p:nvPr/>
        </p:nvGrpSpPr>
        <p:grpSpPr>
          <a:xfrm>
            <a:off x="7208243" y="4020323"/>
            <a:ext cx="548640" cy="548640"/>
            <a:chOff x="4112102" y="4552276"/>
            <a:chExt cx="755257" cy="755257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2BDB486-EDC9-AB43-AEEE-27F5B0327FC0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Graphic 130">
              <a:extLst>
                <a:ext uri="{FF2B5EF4-FFF2-40B4-BE49-F238E27FC236}">
                  <a16:creationId xmlns:a16="http://schemas.microsoft.com/office/drawing/2014/main" id="{AC0D1BBF-A7B4-0944-AADA-9FB284B29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9A6F1F-7C0C-DA48-9482-88ACCC5036E1}"/>
              </a:ext>
            </a:extLst>
          </p:cNvPr>
          <p:cNvGrpSpPr/>
          <p:nvPr/>
        </p:nvGrpSpPr>
        <p:grpSpPr>
          <a:xfrm>
            <a:off x="8054085" y="4025075"/>
            <a:ext cx="548640" cy="548640"/>
            <a:chOff x="4112102" y="4552276"/>
            <a:chExt cx="755257" cy="755257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306E4A5-EF01-5C4E-9081-389F3D0F2E4D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20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4" name="Graphic 133">
              <a:extLst>
                <a:ext uri="{FF2B5EF4-FFF2-40B4-BE49-F238E27FC236}">
                  <a16:creationId xmlns:a16="http://schemas.microsoft.com/office/drawing/2014/main" id="{CFE815FE-89B8-9C40-9FC6-9991C5AF3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E7FFB936-DB89-C94E-9ACE-8B085C810592}"/>
              </a:ext>
            </a:extLst>
          </p:cNvPr>
          <p:cNvSpPr/>
          <p:nvPr/>
        </p:nvSpPr>
        <p:spPr>
          <a:xfrm>
            <a:off x="8214523" y="2898532"/>
            <a:ext cx="618542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6D0EB5F4-54DF-1745-858F-7932EB9666A6}"/>
              </a:ext>
            </a:extLst>
          </p:cNvPr>
          <p:cNvSpPr/>
          <p:nvPr/>
        </p:nvSpPr>
        <p:spPr>
          <a:xfrm>
            <a:off x="8214523" y="3075280"/>
            <a:ext cx="354114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31E43C1B-0DC4-3546-A7C5-16218DA40C30}"/>
              </a:ext>
            </a:extLst>
          </p:cNvPr>
          <p:cNvSpPr/>
          <p:nvPr/>
        </p:nvSpPr>
        <p:spPr>
          <a:xfrm>
            <a:off x="8214523" y="3252028"/>
            <a:ext cx="754319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6D69DD58-DC35-0B46-A644-7E54D5FE9EBA}"/>
              </a:ext>
            </a:extLst>
          </p:cNvPr>
          <p:cNvSpPr/>
          <p:nvPr/>
        </p:nvSpPr>
        <p:spPr>
          <a:xfrm>
            <a:off x="6424230" y="2898533"/>
            <a:ext cx="754319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E69B3FA4-A1C1-6545-A68D-3D837F80C20C}"/>
              </a:ext>
            </a:extLst>
          </p:cNvPr>
          <p:cNvSpPr/>
          <p:nvPr/>
        </p:nvSpPr>
        <p:spPr>
          <a:xfrm>
            <a:off x="6424230" y="3075281"/>
            <a:ext cx="622106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D90F76C4-BA36-EB4B-AF6A-979BCE9A7206}"/>
              </a:ext>
            </a:extLst>
          </p:cNvPr>
          <p:cNvSpPr/>
          <p:nvPr/>
        </p:nvSpPr>
        <p:spPr>
          <a:xfrm>
            <a:off x="6424230" y="3252028"/>
            <a:ext cx="348927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FB264249-2777-4044-8A62-92DD0BE09B31}"/>
              </a:ext>
            </a:extLst>
          </p:cNvPr>
          <p:cNvSpPr/>
          <p:nvPr/>
        </p:nvSpPr>
        <p:spPr>
          <a:xfrm>
            <a:off x="4615042" y="2898533"/>
            <a:ext cx="354114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644A4D76-78DF-0143-A42E-00E2E479215A}"/>
              </a:ext>
            </a:extLst>
          </p:cNvPr>
          <p:cNvSpPr/>
          <p:nvPr/>
        </p:nvSpPr>
        <p:spPr>
          <a:xfrm>
            <a:off x="4615042" y="3075281"/>
            <a:ext cx="754319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F2FFE2E5-B359-9543-9002-B0240C389A14}"/>
              </a:ext>
            </a:extLst>
          </p:cNvPr>
          <p:cNvSpPr/>
          <p:nvPr/>
        </p:nvSpPr>
        <p:spPr>
          <a:xfrm>
            <a:off x="4615042" y="3252029"/>
            <a:ext cx="622106" cy="731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99B93A1-EFE3-0F47-98BF-DAFFB4708316}"/>
              </a:ext>
            </a:extLst>
          </p:cNvPr>
          <p:cNvGrpSpPr/>
          <p:nvPr/>
        </p:nvGrpSpPr>
        <p:grpSpPr>
          <a:xfrm>
            <a:off x="5865679" y="434205"/>
            <a:ext cx="457200" cy="457200"/>
            <a:chOff x="5622616" y="1745857"/>
            <a:chExt cx="683135" cy="683135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86888EBD-EF8D-5F43-AEC6-5EBCBFB1E0A9}"/>
                </a:ext>
              </a:extLst>
            </p:cNvPr>
            <p:cNvSpPr/>
            <p:nvPr/>
          </p:nvSpPr>
          <p:spPr>
            <a:xfrm>
              <a:off x="5622616" y="1745857"/>
              <a:ext cx="683135" cy="683135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4" name="Graphic 153">
              <a:extLst>
                <a:ext uri="{FF2B5EF4-FFF2-40B4-BE49-F238E27FC236}">
                  <a16:creationId xmlns:a16="http://schemas.microsoft.com/office/drawing/2014/main" id="{25C778C9-053C-EE40-8994-6A5B75078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4636" y="1950798"/>
              <a:ext cx="239096" cy="273254"/>
            </a:xfrm>
            <a:prstGeom prst="rect">
              <a:avLst/>
            </a:prstGeom>
          </p:spPr>
        </p:pic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5F03A91-D655-1D46-BFF0-88950CA59CA4}"/>
              </a:ext>
            </a:extLst>
          </p:cNvPr>
          <p:cNvCxnSpPr>
            <a:cxnSpLocks/>
            <a:stCxn id="2" idx="0"/>
            <a:endCxn id="153" idx="4"/>
          </p:cNvCxnSpPr>
          <p:nvPr/>
        </p:nvCxnSpPr>
        <p:spPr>
          <a:xfrm flipH="1" flipV="1">
            <a:off x="6094279" y="891405"/>
            <a:ext cx="1720" cy="304935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0D0D3BE-97F4-0848-AADB-084EE1378F01}"/>
              </a:ext>
            </a:extLst>
          </p:cNvPr>
          <p:cNvGrpSpPr/>
          <p:nvPr/>
        </p:nvGrpSpPr>
        <p:grpSpPr>
          <a:xfrm>
            <a:off x="2738986" y="5066713"/>
            <a:ext cx="548640" cy="548640"/>
            <a:chOff x="4112102" y="4552276"/>
            <a:chExt cx="755257" cy="755257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2F1981CD-2167-924D-AA74-FAEAEFD1281E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2" name="Graphic 161">
              <a:extLst>
                <a:ext uri="{FF2B5EF4-FFF2-40B4-BE49-F238E27FC236}">
                  <a16:creationId xmlns:a16="http://schemas.microsoft.com/office/drawing/2014/main" id="{68A6875E-9C8C-E241-AF16-661A2A3DC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EDDC2B4-11D5-8347-82C5-7BCA6244BE94}"/>
              </a:ext>
            </a:extLst>
          </p:cNvPr>
          <p:cNvGrpSpPr/>
          <p:nvPr/>
        </p:nvGrpSpPr>
        <p:grpSpPr>
          <a:xfrm>
            <a:off x="3584828" y="5071465"/>
            <a:ext cx="548640" cy="548640"/>
            <a:chOff x="4112102" y="4552276"/>
            <a:chExt cx="755257" cy="755257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3D91242-5809-924C-B6D7-B6ED4D02E36B}"/>
                </a:ext>
              </a:extLst>
            </p:cNvPr>
            <p:cNvSpPr/>
            <p:nvPr/>
          </p:nvSpPr>
          <p:spPr>
            <a:xfrm>
              <a:off x="4112102" y="4552276"/>
              <a:ext cx="755257" cy="755257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6968B7BE-DE31-5945-9CD2-71051847A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00916" y="4741090"/>
              <a:ext cx="377628" cy="377628"/>
            </a:xfrm>
            <a:prstGeom prst="rect">
              <a:avLst/>
            </a:prstGeom>
          </p:spPr>
        </p:pic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4EF7E76-B9E4-8D47-B22F-4CFA228FBC8C}"/>
              </a:ext>
            </a:extLst>
          </p:cNvPr>
          <p:cNvGrpSpPr/>
          <p:nvPr/>
        </p:nvGrpSpPr>
        <p:grpSpPr>
          <a:xfrm>
            <a:off x="4048622" y="5971565"/>
            <a:ext cx="4048443" cy="365760"/>
            <a:chOff x="4048622" y="5971565"/>
            <a:chExt cx="4048443" cy="365760"/>
          </a:xfrm>
        </p:grpSpPr>
        <p:pic>
          <p:nvPicPr>
            <p:cNvPr id="177" name="Graphic 176">
              <a:extLst>
                <a:ext uri="{FF2B5EF4-FFF2-40B4-BE49-F238E27FC236}">
                  <a16:creationId xmlns:a16="http://schemas.microsoft.com/office/drawing/2014/main" id="{5095182F-17D9-A145-A46F-97C7839EF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048622" y="5971565"/>
              <a:ext cx="457200" cy="365760"/>
            </a:xfrm>
            <a:prstGeom prst="rect">
              <a:avLst/>
            </a:prstGeom>
          </p:spPr>
        </p:pic>
        <p:pic>
          <p:nvPicPr>
            <p:cNvPr id="179" name="Graphic 178">
              <a:extLst>
                <a:ext uri="{FF2B5EF4-FFF2-40B4-BE49-F238E27FC236}">
                  <a16:creationId xmlns:a16="http://schemas.microsoft.com/office/drawing/2014/main" id="{3A1F2B48-95DA-B742-8144-055DF47D1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76703" y="5971565"/>
              <a:ext cx="457200" cy="365760"/>
            </a:xfrm>
            <a:prstGeom prst="rect">
              <a:avLst/>
            </a:prstGeom>
          </p:spPr>
        </p:pic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2D4C1C61-5AB2-C443-9CFC-09B528E08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731305" y="5971565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96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7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decel="100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900" decel="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900" decel="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900" decel="100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90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90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90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9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9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8" grpId="0" animBg="1"/>
      <p:bldP spid="141" grpId="0" animBg="1"/>
      <p:bldP spid="142" grpId="0" animBg="1"/>
      <p:bldP spid="143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2936-32A4-4840-BAB0-A2263C95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</a:t>
            </a:r>
            <a:br>
              <a:rPr lang="en-US" dirty="0"/>
            </a:br>
            <a:r>
              <a:rPr lang="en-US" dirty="0"/>
              <a:t>Leading HR 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9891C-C577-F844-9D8A-3DC66B523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90" y="2595223"/>
            <a:ext cx="8989730" cy="4098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821962-876B-1943-AA75-4A6C111BE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069" y="126293"/>
            <a:ext cx="5731922" cy="219498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2AC85-BDBD-B24B-A307-8C294D736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720" y="2376311"/>
            <a:ext cx="4368800" cy="18669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F3852A-81C9-D94F-BAA4-6D4C8F4FA344}"/>
              </a:ext>
            </a:extLst>
          </p:cNvPr>
          <p:cNvCxnSpPr>
            <a:cxnSpLocks/>
          </p:cNvCxnSpPr>
          <p:nvPr/>
        </p:nvCxnSpPr>
        <p:spPr>
          <a:xfrm>
            <a:off x="6333069" y="2468033"/>
            <a:ext cx="406398" cy="305223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3F0B49-E9BA-B848-BF3C-DA9AC0199E37}"/>
              </a:ext>
            </a:extLst>
          </p:cNvPr>
          <p:cNvCxnSpPr>
            <a:cxnSpLocks/>
          </p:cNvCxnSpPr>
          <p:nvPr/>
        </p:nvCxnSpPr>
        <p:spPr>
          <a:xfrm flipH="1">
            <a:off x="7755467" y="4171760"/>
            <a:ext cx="3431824" cy="13485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FD128EB-247A-2249-984B-EBD988963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77" y="3581860"/>
            <a:ext cx="2074323" cy="145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5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Identities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Authoritative Source</a:t>
            </a:r>
          </a:p>
          <a:p>
            <a:pPr marL="1200150" lvl="1" indent="-514350"/>
            <a:r>
              <a:rPr lang="en-US" sz="2000" b="1" dirty="0">
                <a:solidFill>
                  <a:srgbClr val="00B0F0"/>
                </a:solidFill>
              </a:rPr>
              <a:t>Admin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Connections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Sources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+New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Identity Profile</a:t>
            </a:r>
          </a:p>
          <a:p>
            <a:pPr marL="1200150" lvl="1" indent="-514350"/>
            <a:r>
              <a:rPr lang="en-US" sz="2000" b="1" dirty="0">
                <a:solidFill>
                  <a:srgbClr val="00B0F0"/>
                </a:solidFill>
              </a:rPr>
              <a:t>Admin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Identities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Identity Profiles </a:t>
            </a:r>
            <a:r>
              <a:rPr lang="en-US" sz="2000" dirty="0">
                <a:solidFill>
                  <a:srgbClr val="00B0F0"/>
                </a:solidFill>
              </a:rPr>
              <a:t>&gt; </a:t>
            </a:r>
            <a:r>
              <a:rPr lang="en-US" sz="2000" b="1" dirty="0">
                <a:solidFill>
                  <a:srgbClr val="00B0F0"/>
                </a:solidFill>
              </a:rPr>
              <a:t>+New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Configure Identity Profile</a:t>
            </a:r>
          </a:p>
          <a:p>
            <a:pPr marL="1200150" lvl="1" indent="-514350"/>
            <a:r>
              <a:rPr lang="en-US" sz="2000" dirty="0">
                <a:solidFill>
                  <a:srgbClr val="00B0F0"/>
                </a:solidFill>
              </a:rPr>
              <a:t>Associate Identity Profile with Source</a:t>
            </a:r>
          </a:p>
          <a:p>
            <a:pPr marL="1200150" lvl="1" indent="-514350"/>
            <a:r>
              <a:rPr lang="en-US" sz="2000" dirty="0">
                <a:solidFill>
                  <a:srgbClr val="00B0F0"/>
                </a:solidFill>
              </a:rPr>
              <a:t>Define identity mappings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Aggregate Authoritative Source Accounts</a:t>
            </a:r>
          </a:p>
          <a:p>
            <a:pPr marL="1200150" lvl="1" indent="-514350"/>
            <a:r>
              <a:rPr lang="en-US" sz="2000" b="1" dirty="0">
                <a:solidFill>
                  <a:srgbClr val="00B0F0"/>
                </a:solidFill>
              </a:rPr>
              <a:t>Admin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Connections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Sources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Import Data </a:t>
            </a:r>
            <a:r>
              <a:rPr lang="en-US" sz="2000" dirty="0">
                <a:solidFill>
                  <a:srgbClr val="00B0F0"/>
                </a:solidFill>
              </a:rPr>
              <a:t>(tab) &gt; </a:t>
            </a:r>
            <a:r>
              <a:rPr lang="en-US" sz="2000" b="1" dirty="0">
                <a:solidFill>
                  <a:srgbClr val="00B0F0"/>
                </a:solidFill>
              </a:rPr>
              <a:t>Import Accounts</a:t>
            </a:r>
          </a:p>
          <a:p>
            <a:pPr marL="514350" indent="-514350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4508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dirty="0"/>
              <a:t>An identity profile is a template for creating identities, and a place where identity policy is defined.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Commonly Aligned to Identity ‘type’ - i.e. Employees, Contractors, Students, Faculty, etc.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Configured by in the admin interface: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Admin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Identities</a:t>
            </a:r>
            <a:r>
              <a:rPr lang="en-US" sz="2000" dirty="0">
                <a:solidFill>
                  <a:srgbClr val="00B0F0"/>
                </a:solidFill>
              </a:rPr>
              <a:t> &gt; </a:t>
            </a:r>
            <a:r>
              <a:rPr lang="en-US" sz="2000" b="1" dirty="0">
                <a:solidFill>
                  <a:srgbClr val="00B0F0"/>
                </a:solidFill>
              </a:rPr>
              <a:t>Identity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Profiles</a:t>
            </a:r>
            <a:r>
              <a:rPr lang="en-US" sz="2000" dirty="0">
                <a:solidFill>
                  <a:srgbClr val="00B0F0"/>
                </a:solidFill>
              </a:rPr>
              <a:t>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/>
              <a:t>An identity can only be assigned by a single identity profile.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Implicit priority / ordering in the user interface.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Priority can also be adjusted by REST API.</a:t>
            </a:r>
          </a:p>
          <a:p>
            <a:pPr marL="1143000" lvl="1" indent="-457200">
              <a:buFont typeface="Arial" charset="0"/>
              <a:buChar char="•"/>
            </a:pPr>
            <a:endParaRPr lang="en-US" dirty="0">
              <a:solidFill>
                <a:srgbClr val="00B0F0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026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Profile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Settings define policy about the identity profile.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Account Source </a:t>
            </a:r>
            <a:r>
              <a:rPr lang="en-US" sz="2000" dirty="0"/>
              <a:t>section defines the authoritative source.</a:t>
            </a:r>
            <a:endParaRPr lang="en-US" sz="2000" dirty="0">
              <a:solidFill>
                <a:srgbClr val="00B0F0"/>
              </a:solidFill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Sign-in Method </a:t>
            </a:r>
            <a:r>
              <a:rPr lang="en-US" sz="2000" dirty="0"/>
              <a:t>defines the authentication source for the user.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e.g. IdentityNow, Active Directory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There are additional options for how and where a user can sign-in.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Off Network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Untrusted Geographies</a:t>
            </a:r>
          </a:p>
          <a:p>
            <a:pPr marL="1143000" lvl="1" indent="-457200">
              <a:buFont typeface="Arial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Strong authentication</a:t>
            </a:r>
          </a:p>
          <a:p>
            <a:pPr marL="457200" indent="-457200">
              <a:buFont typeface="Arial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835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Profile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429" y="6161314"/>
            <a:ext cx="11437257" cy="696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4" y="1330601"/>
            <a:ext cx="9165772" cy="55273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F3F1C6-6B9C-FA45-B0B4-AF83BBBCF976}"/>
              </a:ext>
            </a:extLst>
          </p:cNvPr>
          <p:cNvSpPr/>
          <p:nvPr/>
        </p:nvSpPr>
        <p:spPr>
          <a:xfrm>
            <a:off x="5322200" y="2722123"/>
            <a:ext cx="4179610" cy="11230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1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1429" y="6161314"/>
            <a:ext cx="11437257" cy="696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695"/>
          <a:stretch/>
        </p:blipFill>
        <p:spPr>
          <a:xfrm>
            <a:off x="662504" y="1465943"/>
            <a:ext cx="10066249" cy="46157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Profile Mappings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5370" y="3077029"/>
            <a:ext cx="6371773" cy="59508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18" y="1465943"/>
            <a:ext cx="9969211" cy="389652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flipH="1">
            <a:off x="10341428" y="2315289"/>
            <a:ext cx="1163805" cy="398883"/>
          </a:xfrm>
          <a:prstGeom prst="right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flipH="1">
            <a:off x="10454881" y="1465943"/>
            <a:ext cx="1050352" cy="398883"/>
          </a:xfrm>
          <a:prstGeom prst="right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7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429" y="6161314"/>
            <a:ext cx="11437257" cy="696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4" y="1444172"/>
            <a:ext cx="9816635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6972" y="3062515"/>
            <a:ext cx="2866571" cy="27577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051099" y="3600407"/>
            <a:ext cx="2155804" cy="829622"/>
          </a:xfrm>
          <a:prstGeom prst="roundRect">
            <a:avLst>
              <a:gd name="adj" fmla="val 5664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Excellent</a:t>
            </a:r>
          </a:p>
          <a:p>
            <a:pPr algn="ctr"/>
            <a:r>
              <a:rPr lang="en-US" sz="1600" dirty="0"/>
              <a:t>for transform testing</a:t>
            </a:r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3853543" y="2647704"/>
            <a:ext cx="1067617" cy="41481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21160" y="2232893"/>
            <a:ext cx="2155804" cy="829622"/>
          </a:xfrm>
          <a:prstGeom prst="roundRect">
            <a:avLst>
              <a:gd name="adj" fmla="val 5664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Requires </a:t>
            </a:r>
            <a:r>
              <a:rPr lang="en-US" sz="1600"/>
              <a:t>Aggregated Account 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6217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E045-ED6A-0549-BD8E-39210A48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View of an Identity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68014-A9C7-484C-B7EA-7D962A2083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53"/>
          <a:stretch/>
        </p:blipFill>
        <p:spPr>
          <a:xfrm>
            <a:off x="662504" y="1511452"/>
            <a:ext cx="10842730" cy="534654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41C051-F542-3342-82B9-DBA25E114C24}"/>
              </a:ext>
            </a:extLst>
          </p:cNvPr>
          <p:cNvSpPr/>
          <p:nvPr/>
        </p:nvSpPr>
        <p:spPr>
          <a:xfrm>
            <a:off x="9158544" y="2330178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Account Details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7DC1DA-D2A2-1A46-8A59-A01CF8DD02A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463391" y="1597451"/>
            <a:ext cx="5695153" cy="45684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827528-20E0-174F-9A68-C04A38AB60A1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1844988" y="2370647"/>
            <a:ext cx="7313556" cy="16992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D4B496E-C1C9-D642-8453-95F1FDA8A45A}"/>
              </a:ext>
            </a:extLst>
          </p:cNvPr>
          <p:cNvSpPr/>
          <p:nvPr/>
        </p:nvSpPr>
        <p:spPr>
          <a:xfrm>
            <a:off x="4821213" y="5260549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Identity Details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CC21AC-AA1B-C348-800C-279A65F8764F}"/>
              </a:ext>
            </a:extLst>
          </p:cNvPr>
          <p:cNvSpPr/>
          <p:nvPr/>
        </p:nvSpPr>
        <p:spPr>
          <a:xfrm>
            <a:off x="9158544" y="1387058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Access Details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00BC8C-D777-FC41-AD8D-B01877DC41D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844988" y="1597451"/>
            <a:ext cx="7313556" cy="45393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642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E045-ED6A-0549-BD8E-39210A48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View of an Identity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9822138-B65A-F044-90C1-6F7C1126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04" y="1334389"/>
            <a:ext cx="10842730" cy="471196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620730-9AF7-074C-B22E-9550699A59AA}"/>
              </a:ext>
            </a:extLst>
          </p:cNvPr>
          <p:cNvSpPr/>
          <p:nvPr/>
        </p:nvSpPr>
        <p:spPr>
          <a:xfrm>
            <a:off x="9349375" y="1472048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Query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90B1D2-EE07-0F4D-A0CE-9DB5A735137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021497" y="1682441"/>
            <a:ext cx="6327878" cy="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16B84D-E4CB-1048-A06D-D22C7559611A}"/>
              </a:ext>
            </a:extLst>
          </p:cNvPr>
          <p:cNvSpPr/>
          <p:nvPr/>
        </p:nvSpPr>
        <p:spPr>
          <a:xfrm>
            <a:off x="9349375" y="2198373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Identity Details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C37B01-C6B3-934D-BE76-C7DB14F15B8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185437" y="2408766"/>
            <a:ext cx="3163938" cy="89897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93FAE7-5D19-514E-A164-AFB14952C6C1}"/>
              </a:ext>
            </a:extLst>
          </p:cNvPr>
          <p:cNvSpPr/>
          <p:nvPr/>
        </p:nvSpPr>
        <p:spPr>
          <a:xfrm>
            <a:off x="9349375" y="2924698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Search Results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8EEABD-2067-3D4E-8949-24B78109B10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046721" y="3135091"/>
            <a:ext cx="1302654" cy="55528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037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E045-ED6A-0549-BD8E-39210A48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View of an Identity</a:t>
            </a:r>
          </a:p>
        </p:txBody>
      </p:sp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E99FB0B-B6E5-974E-A76D-874A36055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4" y="1569844"/>
            <a:ext cx="10842730" cy="7880281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F5EA4D-473C-DA41-8063-E2F6B84527D6}"/>
              </a:ext>
            </a:extLst>
          </p:cNvPr>
          <p:cNvSpPr/>
          <p:nvPr/>
        </p:nvSpPr>
        <p:spPr>
          <a:xfrm>
            <a:off x="117911" y="2929893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Identity Details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FDEEA7-5EDB-CA4C-A08E-D25A299B25FA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464601" y="2822713"/>
            <a:ext cx="2489062" cy="317573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9B16547-6664-B045-9F79-88B25A5D26A7}"/>
              </a:ext>
            </a:extLst>
          </p:cNvPr>
          <p:cNvSpPr/>
          <p:nvPr/>
        </p:nvSpPr>
        <p:spPr>
          <a:xfrm>
            <a:off x="117911" y="3679509"/>
            <a:ext cx="2346690" cy="420785"/>
          </a:xfrm>
          <a:prstGeom prst="roundRect">
            <a:avLst/>
          </a:prstGeom>
          <a:solidFill>
            <a:srgbClr val="00B050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Public Identity Attributes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E203FB-C840-724C-974E-B0B6C8247587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464601" y="3889902"/>
            <a:ext cx="5645729" cy="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52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765217-DE51-B347-AC5E-828CC4B67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9" y="2945423"/>
            <a:ext cx="9004480" cy="3779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07EE49-AEB6-D241-B91F-8F4014F2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Read Accounts (other)</a:t>
            </a:r>
            <a:br>
              <a:rPr lang="en-US" sz="3200" dirty="0"/>
            </a:br>
            <a:r>
              <a:rPr lang="en-US" sz="3200" dirty="0"/>
              <a:t>Correlation to Identities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165CD-1E69-5641-BE1E-6D4EAAE6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036" y="67115"/>
            <a:ext cx="5972841" cy="313799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52036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7FFE-A203-FF4A-B48E-A35895C5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Model Components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D4E00-F4F2-9741-9299-9BB934927AD6}"/>
              </a:ext>
            </a:extLst>
          </p:cNvPr>
          <p:cNvSpPr/>
          <p:nvPr/>
        </p:nvSpPr>
        <p:spPr>
          <a:xfrm>
            <a:off x="187218" y="5950601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4A6E4-38BA-5047-AFA1-1EF63B61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489"/>
            <a:ext cx="12192000" cy="483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6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9C7F-BF7F-8A45-8B9F-DFC8C081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8B9DF-5740-334D-9679-3C72C036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507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F0BB54-437B-A144-A46D-862212D71794}"/>
              </a:ext>
            </a:extLst>
          </p:cNvPr>
          <p:cNvSpPr/>
          <p:nvPr/>
        </p:nvSpPr>
        <p:spPr>
          <a:xfrm>
            <a:off x="625892" y="4038139"/>
            <a:ext cx="7314949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12168"/>
                </a:solidFill>
                <a:latin typeface="CustomFont"/>
              </a:rPr>
              <a:t>Access rights, including group memberships or access permissions, that have been granted to a user who has an account on the related source.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1282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7A36-2CFE-7045-AB94-8231536C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Entitlements from Sources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1D0B8-F2C0-5E4E-875A-CFFE3150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127" y="1246593"/>
            <a:ext cx="8171745" cy="561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08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8698-B793-434D-8C9A-548A864D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5DF8E-C81F-A448-9D15-D696C22F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5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22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73FA-8A34-A84F-A606-FD1F3A7F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E9F18-38EF-AA44-A22D-4EF0836ED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45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2F3A7B-902A-774F-A51F-ABD30901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867" y="1465263"/>
            <a:ext cx="2254643" cy="361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0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E6BA-BA46-0A4B-B144-D26AC0AD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CA126-B15A-C84E-8C0A-1FB53CB47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8" y="195308"/>
            <a:ext cx="11961181" cy="60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00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5CAF-AE62-464C-9252-30BF1D88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461C0-BAD7-3C46-808C-3B8A06F9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6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BC71-DD2B-664F-892B-C94B44CC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Concept &amp;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2BA6F8-FB62-1442-9AF0-3BFC65A87AF3}"/>
              </a:ext>
            </a:extLst>
          </p:cNvPr>
          <p:cNvSpPr/>
          <p:nvPr/>
        </p:nvSpPr>
        <p:spPr>
          <a:xfrm>
            <a:off x="240484" y="6284925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DC8A2-4BB3-CE78-EF68-88A6F3E8D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4" y="2543287"/>
            <a:ext cx="7772400" cy="39090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7F7FA4-F125-F6A9-9F3C-EAACA812E520}"/>
              </a:ext>
            </a:extLst>
          </p:cNvPr>
          <p:cNvSpPr/>
          <p:nvPr/>
        </p:nvSpPr>
        <p:spPr>
          <a:xfrm>
            <a:off x="8770289" y="4838465"/>
            <a:ext cx="3288780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2168"/>
                </a:solidFill>
                <a:latin typeface="CustomFont"/>
              </a:rPr>
              <a:t>Entitlements</a:t>
            </a:r>
            <a:r>
              <a:rPr lang="en-GB" sz="2000" dirty="0">
                <a:solidFill>
                  <a:srgbClr val="012168"/>
                </a:solidFill>
                <a:latin typeface="CustomFont"/>
              </a:rPr>
              <a:t>: Access rights, including group memberships or access permissions, that have been granted to a user who has an account on the related source. </a:t>
            </a:r>
            <a:endParaRPr lang="en-US" sz="20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576C9E-AD1B-F77A-9C94-589ACFA91F5A}"/>
              </a:ext>
            </a:extLst>
          </p:cNvPr>
          <p:cNvSpPr/>
          <p:nvPr/>
        </p:nvSpPr>
        <p:spPr>
          <a:xfrm>
            <a:off x="1019984" y="2335039"/>
            <a:ext cx="1239009" cy="633061"/>
          </a:xfrm>
          <a:prstGeom prst="roundRect">
            <a:avLst>
              <a:gd name="adj" fmla="val 566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Role R1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0554DB4-FB7C-3B29-3F3D-A6C35237D198}"/>
              </a:ext>
            </a:extLst>
          </p:cNvPr>
          <p:cNvSpPr/>
          <p:nvPr/>
        </p:nvSpPr>
        <p:spPr>
          <a:xfrm>
            <a:off x="4023820" y="2335039"/>
            <a:ext cx="1239009" cy="633061"/>
          </a:xfrm>
          <a:prstGeom prst="roundRect">
            <a:avLst>
              <a:gd name="adj" fmla="val 566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Role R2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58D0D7-652F-66AE-5538-1B6F6719E078}"/>
              </a:ext>
            </a:extLst>
          </p:cNvPr>
          <p:cNvSpPr/>
          <p:nvPr/>
        </p:nvSpPr>
        <p:spPr>
          <a:xfrm>
            <a:off x="7027656" y="2339650"/>
            <a:ext cx="1239009" cy="633061"/>
          </a:xfrm>
          <a:prstGeom prst="roundRect">
            <a:avLst>
              <a:gd name="adj" fmla="val 566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Role R3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A589B9-494B-0183-D610-A692AD05DF6C}"/>
              </a:ext>
            </a:extLst>
          </p:cNvPr>
          <p:cNvCxnSpPr/>
          <p:nvPr/>
        </p:nvCxnSpPr>
        <p:spPr>
          <a:xfrm>
            <a:off x="1708484" y="2968100"/>
            <a:ext cx="1239253" cy="9782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92D289-167A-6054-651D-16B1F2281527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7371105" y="2976493"/>
            <a:ext cx="267548" cy="9939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85E7A7-693A-E32F-F7FE-F2AC7E2332DD}"/>
              </a:ext>
            </a:extLst>
          </p:cNvPr>
          <p:cNvCxnSpPr>
            <a:cxnSpLocks/>
          </p:cNvCxnSpPr>
          <p:nvPr/>
        </p:nvCxnSpPr>
        <p:spPr>
          <a:xfrm flipH="1">
            <a:off x="2947493" y="2968100"/>
            <a:ext cx="1684665" cy="9782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3BB586-A170-9662-75DC-25A57BF04FA9}"/>
              </a:ext>
            </a:extLst>
          </p:cNvPr>
          <p:cNvCxnSpPr>
            <a:cxnSpLocks/>
          </p:cNvCxnSpPr>
          <p:nvPr/>
        </p:nvCxnSpPr>
        <p:spPr>
          <a:xfrm>
            <a:off x="1708484" y="2968100"/>
            <a:ext cx="4374816" cy="9568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873D3D-81E3-2BC3-3F37-40EEB66E6396}"/>
              </a:ext>
            </a:extLst>
          </p:cNvPr>
          <p:cNvCxnSpPr>
            <a:cxnSpLocks/>
          </p:cNvCxnSpPr>
          <p:nvPr/>
        </p:nvCxnSpPr>
        <p:spPr>
          <a:xfrm>
            <a:off x="4643324" y="2976493"/>
            <a:ext cx="2678985" cy="9698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AE625EC-06B9-1A2D-48E7-5C6FB5D41334}"/>
              </a:ext>
            </a:extLst>
          </p:cNvPr>
          <p:cNvSpPr/>
          <p:nvPr/>
        </p:nvSpPr>
        <p:spPr>
          <a:xfrm>
            <a:off x="6751600" y="3970433"/>
            <a:ext cx="1239009" cy="633061"/>
          </a:xfrm>
          <a:prstGeom prst="roundRect">
            <a:avLst>
              <a:gd name="adj" fmla="val 5664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AP3</a:t>
            </a:r>
          </a:p>
          <a:p>
            <a:pPr algn="ctr"/>
            <a:r>
              <a:rPr lang="en-US" sz="1200" dirty="0"/>
              <a:t>Access Profile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C063F0-195C-33E2-C27B-8FC6F6AB213B}"/>
              </a:ext>
            </a:extLst>
          </p:cNvPr>
          <p:cNvSpPr/>
          <p:nvPr/>
        </p:nvSpPr>
        <p:spPr>
          <a:xfrm>
            <a:off x="8770289" y="2309516"/>
            <a:ext cx="3291732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2168"/>
                </a:solidFill>
                <a:latin typeface="CustomFont"/>
              </a:rPr>
              <a:t>Business Role</a:t>
            </a:r>
            <a:r>
              <a:rPr lang="en-GB" sz="2000" dirty="0">
                <a:solidFill>
                  <a:srgbClr val="012168"/>
                </a:solidFill>
                <a:latin typeface="CustomFont"/>
              </a:rPr>
              <a:t>: A user has one or more business roles, depend on </a:t>
            </a:r>
            <a:r>
              <a:rPr lang="en-GB" sz="2000" dirty="0" err="1">
                <a:solidFill>
                  <a:srgbClr val="012168"/>
                </a:solidFill>
                <a:latin typeface="CustomFont"/>
              </a:rPr>
              <a:t>OrgUnit</a:t>
            </a:r>
            <a:r>
              <a:rPr lang="en-GB" sz="2000" dirty="0">
                <a:solidFill>
                  <a:srgbClr val="012168"/>
                </a:solidFill>
                <a:latin typeface="CustomFont"/>
              </a:rPr>
              <a:t>, Job Role, Department, User Types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83A91A-DF42-051A-3EA5-113027CA6311}"/>
              </a:ext>
            </a:extLst>
          </p:cNvPr>
          <p:cNvSpPr/>
          <p:nvPr/>
        </p:nvSpPr>
        <p:spPr>
          <a:xfrm>
            <a:off x="8770289" y="3730998"/>
            <a:ext cx="329173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2168"/>
                </a:solidFill>
                <a:latin typeface="CustomFont"/>
              </a:rPr>
              <a:t>Technical Role</a:t>
            </a:r>
            <a:r>
              <a:rPr lang="en-GB" sz="2000" dirty="0">
                <a:solidFill>
                  <a:srgbClr val="012168"/>
                </a:solidFill>
                <a:latin typeface="CustomFont"/>
              </a:rPr>
              <a:t>: one or more </a:t>
            </a:r>
          </a:p>
          <a:p>
            <a:r>
              <a:rPr lang="en-GB" sz="2000" dirty="0">
                <a:solidFill>
                  <a:srgbClr val="012168"/>
                </a:solidFill>
                <a:latin typeface="CustomFont"/>
              </a:rPr>
              <a:t>Entitlements of the same source</a:t>
            </a:r>
            <a:endParaRPr lang="en-US" sz="200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B9DB45B-F4B0-DDF3-998E-F720F36E4183}"/>
              </a:ext>
            </a:extLst>
          </p:cNvPr>
          <p:cNvSpPr/>
          <p:nvPr/>
        </p:nvSpPr>
        <p:spPr>
          <a:xfrm>
            <a:off x="5476495" y="1385754"/>
            <a:ext cx="1239009" cy="633061"/>
          </a:xfrm>
          <a:prstGeom prst="roundRect">
            <a:avLst>
              <a:gd name="adj" fmla="val 5664"/>
            </a:avLst>
          </a:prstGeom>
          <a:solidFill>
            <a:srgbClr val="2EC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 A1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6DAF70-5285-5C59-3BA0-03BE9245F4B9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6096000" y="2018815"/>
            <a:ext cx="1251928" cy="1906157"/>
          </a:xfrm>
          <a:prstGeom prst="straightConnector1">
            <a:avLst/>
          </a:prstGeom>
          <a:ln w="28575">
            <a:solidFill>
              <a:srgbClr val="55D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D8A287-9F25-62A4-CC5C-8F6AF484394C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6083300" y="2018815"/>
            <a:ext cx="12700" cy="1906157"/>
          </a:xfrm>
          <a:prstGeom prst="straightConnector1">
            <a:avLst/>
          </a:prstGeom>
          <a:ln w="28575">
            <a:solidFill>
              <a:srgbClr val="55D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F8E6F77-EE0B-1AAC-B5F4-CB31C68947D9}"/>
              </a:ext>
            </a:extLst>
          </p:cNvPr>
          <p:cNvSpPr/>
          <p:nvPr/>
        </p:nvSpPr>
        <p:spPr>
          <a:xfrm>
            <a:off x="8766184" y="1207810"/>
            <a:ext cx="329173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12168"/>
                </a:solidFill>
                <a:latin typeface="CustomFont"/>
              </a:rPr>
              <a:t>Application</a:t>
            </a:r>
            <a:r>
              <a:rPr lang="en-GB" sz="2000" dirty="0">
                <a:solidFill>
                  <a:srgbClr val="012168"/>
                </a:solidFill>
                <a:latin typeface="CustomFont"/>
              </a:rPr>
              <a:t>: Container to combine multiple Access Profiles, helps to structure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F331F2-C9FE-8B9A-4D73-639AB632A8CC}"/>
              </a:ext>
            </a:extLst>
          </p:cNvPr>
          <p:cNvSpPr txBox="1"/>
          <p:nvPr/>
        </p:nvSpPr>
        <p:spPr>
          <a:xfrm>
            <a:off x="5679888" y="6247575"/>
            <a:ext cx="9044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Active Directory</a:t>
            </a:r>
          </a:p>
        </p:txBody>
      </p:sp>
    </p:spTree>
    <p:extLst>
      <p:ext uri="{BB962C8B-B14F-4D97-AF65-F5344CB8AC3E}">
        <p14:creationId xmlns:p14="http://schemas.microsoft.com/office/powerpoint/2010/main" val="152116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7" grpId="0" animBg="1"/>
      <p:bldP spid="39" grpId="0" animBg="1"/>
      <p:bldP spid="4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C1E3-DD18-DD4B-B48F-9023EFCC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38762-CFCA-8243-B6EA-802B1580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46"/>
            <a:ext cx="12192000" cy="61570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A06FB3-2283-9541-ADDE-BD3E4823AE9B}"/>
              </a:ext>
            </a:extLst>
          </p:cNvPr>
          <p:cNvSpPr/>
          <p:nvPr/>
        </p:nvSpPr>
        <p:spPr>
          <a:xfrm>
            <a:off x="240484" y="5923967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23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8A18-EA8E-D846-A64E-4C26D3B5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C093B0-AC8D-6F4D-B205-91B782EA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765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E45854-B579-4E45-B1DB-81CCB7850C60}"/>
              </a:ext>
            </a:extLst>
          </p:cNvPr>
          <p:cNvSpPr/>
          <p:nvPr/>
        </p:nvSpPr>
        <p:spPr>
          <a:xfrm>
            <a:off x="240484" y="5941723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20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AB76-40B3-FD47-8CEB-D28AC2E6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75481-FEAD-554A-B0DB-7AB7E0BA6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3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24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7FFE-A203-FF4A-B48E-A35895C5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48C13-E055-A74D-A817-7A1494F65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2853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4D4E00-F4F2-9741-9299-9BB934927AD6}"/>
              </a:ext>
            </a:extLst>
          </p:cNvPr>
          <p:cNvSpPr/>
          <p:nvPr/>
        </p:nvSpPr>
        <p:spPr>
          <a:xfrm>
            <a:off x="187218" y="5950601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0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29F6-1CF7-914F-926A-68A0767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E6CDDF-612B-5E42-BD79-D7E98DC6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5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85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0C26-DDF6-4848-803A-B31444DE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D427B-8DF7-9B45-87A3-1A6DC66E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2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09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6444-3C5A-3C41-8486-F05815BC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322DF-0004-9A44-BAA0-CBC5D84E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5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91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154FE-BC15-2340-BF61-3CB4A2A4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AA39DA-9343-3F4D-9D38-C311B2EB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BDB810-C8F2-A348-9BF0-0B3FEA740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5759"/>
            <a:ext cx="12192000" cy="3485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5BBB1D-88E5-BC48-94E4-D464FF90F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68789"/>
            <a:ext cx="12192000" cy="23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1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404C-A1B0-0E40-A938-50D0B807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Profiles and Roles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B115039-4D57-D045-90E3-26513F43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8" y="1357400"/>
            <a:ext cx="9991372" cy="471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06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2EE3-36BF-D847-8983-595BCA98D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785E56-FE95-F04A-8263-967DD1712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2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07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9B166-0F79-C24B-9F39-19236FC1B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6" y="1313708"/>
            <a:ext cx="9294470" cy="49357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2EAD14-44AC-A345-BF88-B3537DE4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88" y="273050"/>
            <a:ext cx="11064956" cy="919163"/>
          </a:xfrm>
        </p:spPr>
        <p:txBody>
          <a:bodyPr/>
          <a:lstStyle/>
          <a:p>
            <a:r>
              <a:rPr lang="en-US" dirty="0"/>
              <a:t>Access Profiles, Roles, Sources &amp; Lifecycle States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695253-53C0-454E-BB53-FFB2FB4DFFCE}"/>
              </a:ext>
            </a:extLst>
          </p:cNvPr>
          <p:cNvSpPr/>
          <p:nvPr/>
        </p:nvSpPr>
        <p:spPr>
          <a:xfrm>
            <a:off x="879676" y="5914663"/>
            <a:ext cx="1851949" cy="33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10370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51D5-7D6B-CC49-BCC7-1B79695B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Each ONE Identity can</a:t>
            </a:r>
            <a:endParaRPr lang="en-US" dirty="0"/>
          </a:p>
        </p:txBody>
      </p:sp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4F1C99C-8882-464F-A940-393000B7D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3900"/>
            <a:ext cx="109728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89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A33B2A0-9421-724A-B169-C9E3DE7CB982}"/>
              </a:ext>
            </a:extLst>
          </p:cNvPr>
          <p:cNvSpPr/>
          <p:nvPr/>
        </p:nvSpPr>
        <p:spPr>
          <a:xfrm>
            <a:off x="1235015" y="1441273"/>
            <a:ext cx="9721970" cy="2321625"/>
          </a:xfrm>
          <a:prstGeom prst="roundRect">
            <a:avLst/>
          </a:prstGeom>
          <a:solidFill>
            <a:srgbClr val="4486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B6571C-B3FC-5144-8A39-BA93BDD5D0C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460503" y="2404683"/>
            <a:ext cx="892555" cy="3546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A2EAD14-44AC-A345-BF88-B3537DE4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Authorizations model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D5811A-B5DC-C54A-960A-432580155042}"/>
              </a:ext>
            </a:extLst>
          </p:cNvPr>
          <p:cNvSpPr/>
          <p:nvPr/>
        </p:nvSpPr>
        <p:spPr>
          <a:xfrm>
            <a:off x="1235015" y="3873617"/>
            <a:ext cx="9721970" cy="1837427"/>
          </a:xfrm>
          <a:prstGeom prst="roundRect">
            <a:avLst/>
          </a:prstGeom>
          <a:solidFill>
            <a:srgbClr val="55DDFF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FEA18A-2FB3-8D43-82A0-EFFB44D725BD}"/>
              </a:ext>
            </a:extLst>
          </p:cNvPr>
          <p:cNvSpPr/>
          <p:nvPr/>
        </p:nvSpPr>
        <p:spPr>
          <a:xfrm>
            <a:off x="2924715" y="2510286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Identity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0E65BC8-445C-E74B-B3E4-FF44F7F216CF}"/>
              </a:ext>
            </a:extLst>
          </p:cNvPr>
          <p:cNvSpPr/>
          <p:nvPr/>
        </p:nvSpPr>
        <p:spPr>
          <a:xfrm>
            <a:off x="5120773" y="2155596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Role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CF7CBC-A6F2-4A49-B505-919DA90CE938}"/>
              </a:ext>
            </a:extLst>
          </p:cNvPr>
          <p:cNvSpPr/>
          <p:nvPr/>
        </p:nvSpPr>
        <p:spPr>
          <a:xfrm>
            <a:off x="7353058" y="2510284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Access Profile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3B79B4-468E-C04D-ADF9-0AFF74A16FEA}"/>
              </a:ext>
            </a:extLst>
          </p:cNvPr>
          <p:cNvSpPr/>
          <p:nvPr/>
        </p:nvSpPr>
        <p:spPr>
          <a:xfrm>
            <a:off x="2924715" y="4543245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35E30D-EF70-FC45-A677-94334AEB488E}"/>
              </a:ext>
            </a:extLst>
          </p:cNvPr>
          <p:cNvSpPr/>
          <p:nvPr/>
        </p:nvSpPr>
        <p:spPr>
          <a:xfrm>
            <a:off x="7353058" y="4543246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Entitlement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421B43-BC4C-E44A-A7E7-7992BFD7B08E}"/>
              </a:ext>
            </a:extLst>
          </p:cNvPr>
          <p:cNvSpPr/>
          <p:nvPr/>
        </p:nvSpPr>
        <p:spPr>
          <a:xfrm>
            <a:off x="9441969" y="4543243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Source</a:t>
            </a:r>
            <a:endParaRPr lang="en-US" sz="1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65D232-4C5C-D240-AE9D-E50CA7758CE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594580" y="3008457"/>
            <a:ext cx="0" cy="15347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4E15BA-CE78-924C-B619-DDE26248EA6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264445" y="4792333"/>
            <a:ext cx="3088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6C995D-6842-5245-B73D-08DF07DD8AC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692788" y="4792330"/>
            <a:ext cx="749181" cy="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AB4986-C2A6-CA48-9AC8-1A06AD86790F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8022923" y="3008457"/>
            <a:ext cx="2" cy="1534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D79888BE-0A20-D040-BA61-F045205B8FA7}"/>
              </a:ext>
            </a:extLst>
          </p:cNvPr>
          <p:cNvCxnSpPr>
            <a:stCxn id="7" idx="3"/>
            <a:endCxn id="10" idx="0"/>
          </p:cNvCxnSpPr>
          <p:nvPr/>
        </p:nvCxnSpPr>
        <p:spPr>
          <a:xfrm>
            <a:off x="8692788" y="2759371"/>
            <a:ext cx="1419046" cy="1783872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78FA7738-6F08-AB4E-9882-9E091802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080" y="5146994"/>
            <a:ext cx="457685" cy="457685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D962126F-5184-4D42-97A5-89EE13198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827" y="1967874"/>
            <a:ext cx="469783" cy="46978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8FF9502-9644-7046-A037-3B51B19B8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430" y="1833321"/>
            <a:ext cx="684300" cy="684300"/>
          </a:xfrm>
          <a:prstGeom prst="rect">
            <a:avLst/>
          </a:prstGeom>
        </p:spPr>
      </p:pic>
      <p:pic>
        <p:nvPicPr>
          <p:cNvPr id="53" name="Picture 52" descr="Icon&#10;&#10;Description automatically generated">
            <a:extLst>
              <a:ext uri="{FF2B5EF4-FFF2-40B4-BE49-F238E27FC236}">
                <a16:creationId xmlns:a16="http://schemas.microsoft.com/office/drawing/2014/main" id="{1A2B2EAC-B33C-A440-BC6A-67E2AE8EE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688" y="5134896"/>
            <a:ext cx="469783" cy="469783"/>
          </a:xfrm>
          <a:prstGeom prst="rect">
            <a:avLst/>
          </a:prstGeom>
        </p:spPr>
      </p:pic>
      <p:pic>
        <p:nvPicPr>
          <p:cNvPr id="55" name="Picture 54" descr="Icon&#10;&#10;Description automatically generated">
            <a:extLst>
              <a:ext uri="{FF2B5EF4-FFF2-40B4-BE49-F238E27FC236}">
                <a16:creationId xmlns:a16="http://schemas.microsoft.com/office/drawing/2014/main" id="{9CB04102-F561-0641-A91A-26A00FB48E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3774" y="3235513"/>
            <a:ext cx="576370" cy="576370"/>
          </a:xfrm>
          <a:prstGeom prst="rect">
            <a:avLst/>
          </a:prstGeom>
        </p:spPr>
      </p:pic>
      <p:pic>
        <p:nvPicPr>
          <p:cNvPr id="57" name="Picture 56" descr="Logo&#10;&#10;Description automatically generated with medium confidence">
            <a:extLst>
              <a:ext uri="{FF2B5EF4-FFF2-40B4-BE49-F238E27FC236}">
                <a16:creationId xmlns:a16="http://schemas.microsoft.com/office/drawing/2014/main" id="{1133E23E-8C85-154A-85CA-789F7F993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554" y="1483710"/>
            <a:ext cx="1339712" cy="7011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6CCDDB4-666F-854E-A063-2F4C5A0F6567}"/>
              </a:ext>
            </a:extLst>
          </p:cNvPr>
          <p:cNvSpPr txBox="1"/>
          <p:nvPr/>
        </p:nvSpPr>
        <p:spPr>
          <a:xfrm>
            <a:off x="4741855" y="2176470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4F9B43-F7A1-5248-8495-F58CB34023B7}"/>
              </a:ext>
            </a:extLst>
          </p:cNvPr>
          <p:cNvSpPr txBox="1"/>
          <p:nvPr/>
        </p:nvSpPr>
        <p:spPr>
          <a:xfrm>
            <a:off x="3604969" y="4334736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C58F57-E996-A74D-A164-AC52729289E9}"/>
              </a:ext>
            </a:extLst>
          </p:cNvPr>
          <p:cNvSpPr txBox="1"/>
          <p:nvPr/>
        </p:nvSpPr>
        <p:spPr>
          <a:xfrm>
            <a:off x="6995671" y="4550343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42427F-9384-3142-B325-8327D0AEBBFE}"/>
              </a:ext>
            </a:extLst>
          </p:cNvPr>
          <p:cNvSpPr txBox="1"/>
          <p:nvPr/>
        </p:nvSpPr>
        <p:spPr>
          <a:xfrm>
            <a:off x="7038125" y="2407544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3FD64C-682B-5D41-8170-B0BB17BB318A}"/>
              </a:ext>
            </a:extLst>
          </p:cNvPr>
          <p:cNvSpPr txBox="1"/>
          <p:nvPr/>
        </p:nvSpPr>
        <p:spPr>
          <a:xfrm>
            <a:off x="8025769" y="4334736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0BB8B9-849F-8646-90BC-5A867FBE20B5}"/>
              </a:ext>
            </a:extLst>
          </p:cNvPr>
          <p:cNvSpPr txBox="1"/>
          <p:nvPr/>
        </p:nvSpPr>
        <p:spPr>
          <a:xfrm>
            <a:off x="9138111" y="4550343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FEB384-986F-DB49-922A-C37D8535890B}"/>
              </a:ext>
            </a:extLst>
          </p:cNvPr>
          <p:cNvSpPr txBox="1"/>
          <p:nvPr/>
        </p:nvSpPr>
        <p:spPr>
          <a:xfrm>
            <a:off x="10122874" y="4334736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57D874F-84EB-094B-8E94-241A59FB8072}"/>
              </a:ext>
            </a:extLst>
          </p:cNvPr>
          <p:cNvSpPr/>
          <p:nvPr/>
        </p:nvSpPr>
        <p:spPr>
          <a:xfrm>
            <a:off x="5109859" y="2766708"/>
            <a:ext cx="1339730" cy="498173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Application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500539-10D2-8745-AD08-C8497AB1EF86}"/>
              </a:ext>
            </a:extLst>
          </p:cNvPr>
          <p:cNvCxnSpPr>
            <a:cxnSpLocks/>
            <a:stCxn id="34" idx="3"/>
            <a:endCxn id="7" idx="1"/>
          </p:cNvCxnSpPr>
          <p:nvPr/>
        </p:nvCxnSpPr>
        <p:spPr>
          <a:xfrm flipV="1">
            <a:off x="6449589" y="2759371"/>
            <a:ext cx="903469" cy="256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1F534F-68E1-8A44-BFB9-9BC6D33F4A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64445" y="2404683"/>
            <a:ext cx="856328" cy="354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D5B4D1-25CD-FD47-8537-0CAE4B4C61B6}"/>
              </a:ext>
            </a:extLst>
          </p:cNvPr>
          <p:cNvCxnSpPr>
            <a:cxnSpLocks/>
            <a:stCxn id="5" idx="3"/>
            <a:endCxn id="34" idx="1"/>
          </p:cNvCxnSpPr>
          <p:nvPr/>
        </p:nvCxnSpPr>
        <p:spPr>
          <a:xfrm>
            <a:off x="4264445" y="2759373"/>
            <a:ext cx="845414" cy="256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944B557-999A-E84C-83F7-68E40AA3AE80}"/>
              </a:ext>
            </a:extLst>
          </p:cNvPr>
          <p:cNvSpPr txBox="1"/>
          <p:nvPr/>
        </p:nvSpPr>
        <p:spPr>
          <a:xfrm>
            <a:off x="4741855" y="3039780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FD084-4AA4-8044-89DD-BD3D3D2D9D75}"/>
              </a:ext>
            </a:extLst>
          </p:cNvPr>
          <p:cNvSpPr txBox="1"/>
          <p:nvPr/>
        </p:nvSpPr>
        <p:spPr>
          <a:xfrm>
            <a:off x="7038125" y="286335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pic>
        <p:nvPicPr>
          <p:cNvPr id="58" name="Picture 57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DA460DB8-F7AA-B94F-8E58-9E3480296D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028" y="1516438"/>
            <a:ext cx="541391" cy="541391"/>
          </a:xfrm>
          <a:prstGeom prst="rect">
            <a:avLst/>
          </a:prstGeom>
        </p:spPr>
      </p:pic>
      <p:pic>
        <p:nvPicPr>
          <p:cNvPr id="60" name="Picture 59" descr="Icon&#10;&#10;Description automatically generated">
            <a:extLst>
              <a:ext uri="{FF2B5EF4-FFF2-40B4-BE49-F238E27FC236}">
                <a16:creationId xmlns:a16="http://schemas.microsoft.com/office/drawing/2014/main" id="{86172BEB-1F31-C445-98E9-2797989110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9107" y="5099225"/>
            <a:ext cx="505454" cy="50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34349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A33B2A0-9421-724A-B169-C9E3DE7CB982}"/>
              </a:ext>
            </a:extLst>
          </p:cNvPr>
          <p:cNvSpPr/>
          <p:nvPr/>
        </p:nvSpPr>
        <p:spPr>
          <a:xfrm>
            <a:off x="661988" y="1881111"/>
            <a:ext cx="9721970" cy="2522846"/>
          </a:xfrm>
          <a:prstGeom prst="roundRect">
            <a:avLst/>
          </a:prstGeom>
          <a:solidFill>
            <a:srgbClr val="4486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B6571C-B3FC-5144-8A39-BA93BDD5D0C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887476" y="2844521"/>
            <a:ext cx="892555" cy="3546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A2EAD14-44AC-A345-BF88-B3537DE4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D5811A-B5DC-C54A-960A-432580155042}"/>
              </a:ext>
            </a:extLst>
          </p:cNvPr>
          <p:cNvSpPr/>
          <p:nvPr/>
        </p:nvSpPr>
        <p:spPr>
          <a:xfrm>
            <a:off x="661988" y="4510322"/>
            <a:ext cx="9721970" cy="1837427"/>
          </a:xfrm>
          <a:prstGeom prst="roundRect">
            <a:avLst/>
          </a:prstGeom>
          <a:solidFill>
            <a:srgbClr val="55DDFF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FEA18A-2FB3-8D43-82A0-EFFB44D725BD}"/>
              </a:ext>
            </a:extLst>
          </p:cNvPr>
          <p:cNvSpPr/>
          <p:nvPr/>
        </p:nvSpPr>
        <p:spPr>
          <a:xfrm>
            <a:off x="2351688" y="2950124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Identity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0E65BC8-445C-E74B-B3E4-FF44F7F216CF}"/>
              </a:ext>
            </a:extLst>
          </p:cNvPr>
          <p:cNvSpPr/>
          <p:nvPr/>
        </p:nvSpPr>
        <p:spPr>
          <a:xfrm>
            <a:off x="4547746" y="2595434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Role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CF7CBC-A6F2-4A49-B505-919DA90CE938}"/>
              </a:ext>
            </a:extLst>
          </p:cNvPr>
          <p:cNvSpPr/>
          <p:nvPr/>
        </p:nvSpPr>
        <p:spPr>
          <a:xfrm>
            <a:off x="6780031" y="2950122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Access Profile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3B79B4-468E-C04D-ADF9-0AFF74A16FEA}"/>
              </a:ext>
            </a:extLst>
          </p:cNvPr>
          <p:cNvSpPr/>
          <p:nvPr/>
        </p:nvSpPr>
        <p:spPr>
          <a:xfrm>
            <a:off x="2351688" y="5179950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35E30D-EF70-FC45-A677-94334AEB488E}"/>
              </a:ext>
            </a:extLst>
          </p:cNvPr>
          <p:cNvSpPr/>
          <p:nvPr/>
        </p:nvSpPr>
        <p:spPr>
          <a:xfrm>
            <a:off x="6780031" y="5179951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Entitlement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421B43-BC4C-E44A-A7E7-7992BFD7B08E}"/>
              </a:ext>
            </a:extLst>
          </p:cNvPr>
          <p:cNvSpPr/>
          <p:nvPr/>
        </p:nvSpPr>
        <p:spPr>
          <a:xfrm>
            <a:off x="8707382" y="5179948"/>
            <a:ext cx="150129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Source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65D232-4C5C-D240-AE9D-E50CA7758CE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021553" y="3645162"/>
            <a:ext cx="0" cy="15347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4E15BA-CE78-924C-B619-DDE26248EA6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91418" y="5429038"/>
            <a:ext cx="3088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6C995D-6842-5245-B73D-08DF07DD8AC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119761" y="5429035"/>
            <a:ext cx="587621" cy="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AB4986-C2A6-CA48-9AC8-1A06AD86790F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7449896" y="3645162"/>
            <a:ext cx="2" cy="1534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D79888BE-0A20-D040-BA61-F045205B8FA7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>
            <a:off x="8119761" y="3199209"/>
            <a:ext cx="1338266" cy="1980739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78FA7738-6F08-AB4E-9882-9E091802F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053" y="5783699"/>
            <a:ext cx="457685" cy="457685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D962126F-5184-4D42-97A5-89EE13198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800" y="2407712"/>
            <a:ext cx="469783" cy="46978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8FF9502-9644-7046-A037-3B51B19B8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403" y="2273159"/>
            <a:ext cx="684300" cy="684300"/>
          </a:xfrm>
          <a:prstGeom prst="rect">
            <a:avLst/>
          </a:prstGeom>
        </p:spPr>
      </p:pic>
      <p:pic>
        <p:nvPicPr>
          <p:cNvPr id="53" name="Picture 52" descr="Icon&#10;&#10;Description automatically generated">
            <a:extLst>
              <a:ext uri="{FF2B5EF4-FFF2-40B4-BE49-F238E27FC236}">
                <a16:creationId xmlns:a16="http://schemas.microsoft.com/office/drawing/2014/main" id="{1A2B2EAC-B33C-A440-BC6A-67E2AE8EE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661" y="5771601"/>
            <a:ext cx="469783" cy="469783"/>
          </a:xfrm>
          <a:prstGeom prst="rect">
            <a:avLst/>
          </a:prstGeom>
        </p:spPr>
      </p:pic>
      <p:pic>
        <p:nvPicPr>
          <p:cNvPr id="57" name="Picture 56" descr="Logo&#10;&#10;Description automatically generated with medium confidence">
            <a:extLst>
              <a:ext uri="{FF2B5EF4-FFF2-40B4-BE49-F238E27FC236}">
                <a16:creationId xmlns:a16="http://schemas.microsoft.com/office/drawing/2014/main" id="{1133E23E-8C85-154A-85CA-789F7F993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27" y="1923548"/>
            <a:ext cx="1339712" cy="7011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6CCDDB4-666F-854E-A063-2F4C5A0F6567}"/>
              </a:ext>
            </a:extLst>
          </p:cNvPr>
          <p:cNvSpPr txBox="1"/>
          <p:nvPr/>
        </p:nvSpPr>
        <p:spPr>
          <a:xfrm>
            <a:off x="4181234" y="3044625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4F9B43-F7A1-5248-8495-F58CB34023B7}"/>
              </a:ext>
            </a:extLst>
          </p:cNvPr>
          <p:cNvSpPr txBox="1"/>
          <p:nvPr/>
        </p:nvSpPr>
        <p:spPr>
          <a:xfrm>
            <a:off x="3031942" y="497144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C58F57-E996-A74D-A164-AC52729289E9}"/>
              </a:ext>
            </a:extLst>
          </p:cNvPr>
          <p:cNvSpPr txBox="1"/>
          <p:nvPr/>
        </p:nvSpPr>
        <p:spPr>
          <a:xfrm>
            <a:off x="6422644" y="5187048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42427F-9384-3142-B325-8327D0AEBBFE}"/>
              </a:ext>
            </a:extLst>
          </p:cNvPr>
          <p:cNvSpPr txBox="1"/>
          <p:nvPr/>
        </p:nvSpPr>
        <p:spPr>
          <a:xfrm>
            <a:off x="6465098" y="2847382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3FD64C-682B-5D41-8170-B0BB17BB318A}"/>
              </a:ext>
            </a:extLst>
          </p:cNvPr>
          <p:cNvSpPr txBox="1"/>
          <p:nvPr/>
        </p:nvSpPr>
        <p:spPr>
          <a:xfrm>
            <a:off x="7452742" y="497144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0BB8B9-849F-8646-90BC-5A867FBE20B5}"/>
              </a:ext>
            </a:extLst>
          </p:cNvPr>
          <p:cNvSpPr txBox="1"/>
          <p:nvPr/>
        </p:nvSpPr>
        <p:spPr>
          <a:xfrm>
            <a:off x="8330356" y="519820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FEB384-986F-DB49-922A-C37D8535890B}"/>
              </a:ext>
            </a:extLst>
          </p:cNvPr>
          <p:cNvSpPr txBox="1"/>
          <p:nvPr/>
        </p:nvSpPr>
        <p:spPr>
          <a:xfrm>
            <a:off x="9549847" y="4971441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57D874F-84EB-094B-8E94-241A59FB8072}"/>
              </a:ext>
            </a:extLst>
          </p:cNvPr>
          <p:cNvSpPr/>
          <p:nvPr/>
        </p:nvSpPr>
        <p:spPr>
          <a:xfrm>
            <a:off x="4536832" y="3206546"/>
            <a:ext cx="1339730" cy="498173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Application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500539-10D2-8745-AD08-C8497AB1EF86}"/>
              </a:ext>
            </a:extLst>
          </p:cNvPr>
          <p:cNvCxnSpPr>
            <a:cxnSpLocks/>
            <a:stCxn id="34" idx="3"/>
            <a:endCxn id="7" idx="1"/>
          </p:cNvCxnSpPr>
          <p:nvPr/>
        </p:nvCxnSpPr>
        <p:spPr>
          <a:xfrm flipV="1">
            <a:off x="5876562" y="3199209"/>
            <a:ext cx="903469" cy="256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1F534F-68E1-8A44-BFB9-9BC6D33F4A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691418" y="2844521"/>
            <a:ext cx="856328" cy="354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D5B4D1-25CD-FD47-8537-0CAE4B4C61B6}"/>
              </a:ext>
            </a:extLst>
          </p:cNvPr>
          <p:cNvCxnSpPr>
            <a:cxnSpLocks/>
            <a:stCxn id="5" idx="3"/>
            <a:endCxn id="34" idx="1"/>
          </p:cNvCxnSpPr>
          <p:nvPr/>
        </p:nvCxnSpPr>
        <p:spPr>
          <a:xfrm>
            <a:off x="3691418" y="3199211"/>
            <a:ext cx="845414" cy="256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944B557-999A-E84C-83F7-68E40AA3AE80}"/>
              </a:ext>
            </a:extLst>
          </p:cNvPr>
          <p:cNvSpPr txBox="1"/>
          <p:nvPr/>
        </p:nvSpPr>
        <p:spPr>
          <a:xfrm>
            <a:off x="4168828" y="3479618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FD084-4AA4-8044-89DD-BD3D3D2D9D75}"/>
              </a:ext>
            </a:extLst>
          </p:cNvPr>
          <p:cNvSpPr txBox="1"/>
          <p:nvPr/>
        </p:nvSpPr>
        <p:spPr>
          <a:xfrm>
            <a:off x="6465098" y="3303189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pic>
        <p:nvPicPr>
          <p:cNvPr id="58" name="Picture 57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DA460DB8-F7AA-B94F-8E58-9E3480296D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6001" y="1956276"/>
            <a:ext cx="541391" cy="541391"/>
          </a:xfrm>
          <a:prstGeom prst="rect">
            <a:avLst/>
          </a:prstGeom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7BB6700-DD32-D24F-9B0E-AC0F27735993}"/>
              </a:ext>
            </a:extLst>
          </p:cNvPr>
          <p:cNvCxnSpPr>
            <a:cxnSpLocks/>
            <a:stCxn id="84" idx="3"/>
            <a:endCxn id="51" idx="0"/>
          </p:cNvCxnSpPr>
          <p:nvPr/>
        </p:nvCxnSpPr>
        <p:spPr>
          <a:xfrm flipH="1" flipV="1">
            <a:off x="3021553" y="2273159"/>
            <a:ext cx="7187119" cy="3719139"/>
          </a:xfrm>
          <a:prstGeom prst="bentConnector4">
            <a:avLst>
              <a:gd name="adj1" fmla="val -10267"/>
              <a:gd name="adj2" fmla="val 11890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23E89D3-46E4-D343-B830-F87347F69D59}"/>
              </a:ext>
            </a:extLst>
          </p:cNvPr>
          <p:cNvSpPr/>
          <p:nvPr/>
        </p:nvSpPr>
        <p:spPr>
          <a:xfrm>
            <a:off x="8707382" y="5743211"/>
            <a:ext cx="150129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Auth. Source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7D5D07F-6459-2445-859F-FD7D927144F5}"/>
              </a:ext>
            </a:extLst>
          </p:cNvPr>
          <p:cNvSpPr/>
          <p:nvPr/>
        </p:nvSpPr>
        <p:spPr>
          <a:xfrm>
            <a:off x="6110166" y="1312502"/>
            <a:ext cx="1339730" cy="498173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Identity Profile</a:t>
            </a:r>
            <a:endParaRPr lang="en-US" dirty="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E6EAC2D-8C2A-B945-ADED-9C5119628280}"/>
              </a:ext>
            </a:extLst>
          </p:cNvPr>
          <p:cNvSpPr/>
          <p:nvPr/>
        </p:nvSpPr>
        <p:spPr>
          <a:xfrm>
            <a:off x="4536831" y="3757163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Accounts</a:t>
            </a:r>
            <a:endParaRPr lang="en-US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3FFFAFB-B685-BC48-8C10-215BC3AA7BD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691418" y="3199211"/>
            <a:ext cx="845413" cy="8287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07258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A33B2A0-9421-724A-B169-C9E3DE7CB982}"/>
              </a:ext>
            </a:extLst>
          </p:cNvPr>
          <p:cNvSpPr/>
          <p:nvPr/>
        </p:nvSpPr>
        <p:spPr>
          <a:xfrm>
            <a:off x="661988" y="1881111"/>
            <a:ext cx="9721970" cy="2522846"/>
          </a:xfrm>
          <a:prstGeom prst="roundRect">
            <a:avLst/>
          </a:prstGeom>
          <a:solidFill>
            <a:srgbClr val="4486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EAD14-44AC-A345-BF88-B3537DE4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D5811A-B5DC-C54A-960A-432580155042}"/>
              </a:ext>
            </a:extLst>
          </p:cNvPr>
          <p:cNvSpPr/>
          <p:nvPr/>
        </p:nvSpPr>
        <p:spPr>
          <a:xfrm>
            <a:off x="661988" y="4510322"/>
            <a:ext cx="9721970" cy="1837427"/>
          </a:xfrm>
          <a:prstGeom prst="roundRect">
            <a:avLst/>
          </a:prstGeom>
          <a:solidFill>
            <a:srgbClr val="55DDFF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FEA18A-2FB3-8D43-82A0-EFFB44D725BD}"/>
              </a:ext>
            </a:extLst>
          </p:cNvPr>
          <p:cNvSpPr/>
          <p:nvPr/>
        </p:nvSpPr>
        <p:spPr>
          <a:xfrm>
            <a:off x="2351688" y="2950124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Identity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CF7CBC-A6F2-4A49-B505-919DA90CE938}"/>
              </a:ext>
            </a:extLst>
          </p:cNvPr>
          <p:cNvSpPr/>
          <p:nvPr/>
        </p:nvSpPr>
        <p:spPr>
          <a:xfrm>
            <a:off x="6780031" y="2950122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 Profile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3B79B4-468E-C04D-ADF9-0AFF74A16FEA}"/>
              </a:ext>
            </a:extLst>
          </p:cNvPr>
          <p:cNvSpPr/>
          <p:nvPr/>
        </p:nvSpPr>
        <p:spPr>
          <a:xfrm>
            <a:off x="2351688" y="5179950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35E30D-EF70-FC45-A677-94334AEB488E}"/>
              </a:ext>
            </a:extLst>
          </p:cNvPr>
          <p:cNvSpPr/>
          <p:nvPr/>
        </p:nvSpPr>
        <p:spPr>
          <a:xfrm>
            <a:off x="6780031" y="5179951"/>
            <a:ext cx="133973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Entitlement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421B43-BC4C-E44A-A7E7-7992BFD7B08E}"/>
              </a:ext>
            </a:extLst>
          </p:cNvPr>
          <p:cNvSpPr/>
          <p:nvPr/>
        </p:nvSpPr>
        <p:spPr>
          <a:xfrm>
            <a:off x="8707382" y="5179948"/>
            <a:ext cx="150129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Source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65D232-4C5C-D240-AE9D-E50CA7758CE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021553" y="3645162"/>
            <a:ext cx="0" cy="15347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4E15BA-CE78-924C-B619-DDE26248EA6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91418" y="5429038"/>
            <a:ext cx="3088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6C995D-6842-5245-B73D-08DF07DD8AC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119761" y="5429035"/>
            <a:ext cx="587621" cy="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D79888BE-0A20-D040-BA61-F045205B8FA7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>
            <a:off x="8119761" y="3199209"/>
            <a:ext cx="1338266" cy="1980739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78FA7738-6F08-AB4E-9882-9E091802F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053" y="5783699"/>
            <a:ext cx="457685" cy="45768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8FF9502-9644-7046-A037-3B51B19B8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403" y="2273159"/>
            <a:ext cx="684300" cy="684300"/>
          </a:xfrm>
          <a:prstGeom prst="rect">
            <a:avLst/>
          </a:prstGeom>
        </p:spPr>
      </p:pic>
      <p:pic>
        <p:nvPicPr>
          <p:cNvPr id="53" name="Picture 52" descr="Icon&#10;&#10;Description automatically generated">
            <a:extLst>
              <a:ext uri="{FF2B5EF4-FFF2-40B4-BE49-F238E27FC236}">
                <a16:creationId xmlns:a16="http://schemas.microsoft.com/office/drawing/2014/main" id="{1A2B2EAC-B33C-A440-BC6A-67E2AE8EE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661" y="5771601"/>
            <a:ext cx="469783" cy="469783"/>
          </a:xfrm>
          <a:prstGeom prst="rect">
            <a:avLst/>
          </a:prstGeom>
        </p:spPr>
      </p:pic>
      <p:pic>
        <p:nvPicPr>
          <p:cNvPr id="57" name="Picture 56" descr="Logo&#10;&#10;Description automatically generated with medium confidence">
            <a:extLst>
              <a:ext uri="{FF2B5EF4-FFF2-40B4-BE49-F238E27FC236}">
                <a16:creationId xmlns:a16="http://schemas.microsoft.com/office/drawing/2014/main" id="{1133E23E-8C85-154A-85CA-789F7F993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27" y="1923548"/>
            <a:ext cx="1339712" cy="7011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4F9B43-F7A1-5248-8495-F58CB34023B7}"/>
              </a:ext>
            </a:extLst>
          </p:cNvPr>
          <p:cNvSpPr txBox="1"/>
          <p:nvPr/>
        </p:nvSpPr>
        <p:spPr>
          <a:xfrm>
            <a:off x="3031942" y="497144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C58F57-E996-A74D-A164-AC52729289E9}"/>
              </a:ext>
            </a:extLst>
          </p:cNvPr>
          <p:cNvSpPr txBox="1"/>
          <p:nvPr/>
        </p:nvSpPr>
        <p:spPr>
          <a:xfrm>
            <a:off x="6422644" y="5187048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3FD64C-682B-5D41-8170-B0BB17BB318A}"/>
              </a:ext>
            </a:extLst>
          </p:cNvPr>
          <p:cNvSpPr txBox="1"/>
          <p:nvPr/>
        </p:nvSpPr>
        <p:spPr>
          <a:xfrm>
            <a:off x="7452742" y="4971441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0BB8B9-849F-8646-90BC-5A867FBE20B5}"/>
              </a:ext>
            </a:extLst>
          </p:cNvPr>
          <p:cNvSpPr txBox="1"/>
          <p:nvPr/>
        </p:nvSpPr>
        <p:spPr>
          <a:xfrm>
            <a:off x="8330356" y="519820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FEB384-986F-DB49-922A-C37D8535890B}"/>
              </a:ext>
            </a:extLst>
          </p:cNvPr>
          <p:cNvSpPr txBox="1"/>
          <p:nvPr/>
        </p:nvSpPr>
        <p:spPr>
          <a:xfrm>
            <a:off x="9549847" y="4971441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1..1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FD084-4AA4-8044-89DD-BD3D3D2D9D75}"/>
              </a:ext>
            </a:extLst>
          </p:cNvPr>
          <p:cNvSpPr txBox="1"/>
          <p:nvPr/>
        </p:nvSpPr>
        <p:spPr>
          <a:xfrm>
            <a:off x="6465098" y="3303189"/>
            <a:ext cx="396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0..N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7BB6700-DD32-D24F-9B0E-AC0F27735993}"/>
              </a:ext>
            </a:extLst>
          </p:cNvPr>
          <p:cNvCxnSpPr>
            <a:cxnSpLocks/>
            <a:stCxn id="84" idx="3"/>
            <a:endCxn id="51" idx="0"/>
          </p:cNvCxnSpPr>
          <p:nvPr/>
        </p:nvCxnSpPr>
        <p:spPr>
          <a:xfrm flipH="1" flipV="1">
            <a:off x="3021553" y="2273159"/>
            <a:ext cx="7187119" cy="3719139"/>
          </a:xfrm>
          <a:prstGeom prst="bentConnector4">
            <a:avLst>
              <a:gd name="adj1" fmla="val -10267"/>
              <a:gd name="adj2" fmla="val 11890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23E89D3-46E4-D343-B830-F87347F69D59}"/>
              </a:ext>
            </a:extLst>
          </p:cNvPr>
          <p:cNvSpPr/>
          <p:nvPr/>
        </p:nvSpPr>
        <p:spPr>
          <a:xfrm>
            <a:off x="8707382" y="5743211"/>
            <a:ext cx="1501290" cy="49817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Auth. Source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7D5D07F-6459-2445-859F-FD7D927144F5}"/>
              </a:ext>
            </a:extLst>
          </p:cNvPr>
          <p:cNvSpPr/>
          <p:nvPr/>
        </p:nvSpPr>
        <p:spPr>
          <a:xfrm>
            <a:off x="6110166" y="1312502"/>
            <a:ext cx="1339730" cy="498173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Identity Profile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67DF7D-718C-A448-B370-D53A296F9EE9}"/>
              </a:ext>
            </a:extLst>
          </p:cNvPr>
          <p:cNvCxnSpPr>
            <a:cxnSpLocks/>
          </p:cNvCxnSpPr>
          <p:nvPr/>
        </p:nvCxnSpPr>
        <p:spPr>
          <a:xfrm>
            <a:off x="3691418" y="3188739"/>
            <a:ext cx="3088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89827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ailPoint 2016 Template">
  <a:themeElements>
    <a:clrScheme name="2016 New Brand">
      <a:dk1>
        <a:srgbClr val="012068"/>
      </a:dk1>
      <a:lt1>
        <a:srgbClr val="FFFFFF"/>
      </a:lt1>
      <a:dk2>
        <a:srgbClr val="8A8A8D"/>
      </a:dk2>
      <a:lt2>
        <a:srgbClr val="FFFFFF"/>
      </a:lt2>
      <a:accent1>
        <a:srgbClr val="00B5E2"/>
      </a:accent1>
      <a:accent2>
        <a:srgbClr val="3FAE28"/>
      </a:accent2>
      <a:accent3>
        <a:srgbClr val="783CBD"/>
      </a:accent3>
      <a:accent4>
        <a:srgbClr val="005EB8"/>
      </a:accent4>
      <a:accent5>
        <a:srgbClr val="006341"/>
      </a:accent5>
      <a:accent6>
        <a:srgbClr val="500778"/>
      </a:accent6>
      <a:hlink>
        <a:srgbClr val="783CBD"/>
      </a:hlink>
      <a:folHlink>
        <a:srgbClr val="00B5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lPoint Predictive Identity Platform Overview Deck_EN_final" id="{BE961EB0-5FBF-C946-BE97-59C281EA2629}" vid="{2E09BFA1-639E-7E4D-990C-8A090C3784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d6f3aaa-03e1-4470-be20-701b8ac3a3ee">
      <UserInfo>
        <DisplayName>Bruno Heitor</DisplayName>
        <AccountId>42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2FE48F2194944AA6D6DBB5E57BE9D" ma:contentTypeVersion="11" ma:contentTypeDescription="Create a new document." ma:contentTypeScope="" ma:versionID="055d3bb40049a3d5c52c51eaab79a999">
  <xsd:schema xmlns:xsd="http://www.w3.org/2001/XMLSchema" xmlns:xs="http://www.w3.org/2001/XMLSchema" xmlns:p="http://schemas.microsoft.com/office/2006/metadata/properties" xmlns:ns2="ad6f3aaa-03e1-4470-be20-701b8ac3a3ee" xmlns:ns3="9fd0cb04-fcf8-440d-881a-0996ad6d3e7b" targetNamespace="http://schemas.microsoft.com/office/2006/metadata/properties" ma:root="true" ma:fieldsID="fe6fbee5e7a67938933feb0f829a0a56" ns2:_="" ns3:_="">
    <xsd:import namespace="ad6f3aaa-03e1-4470-be20-701b8ac3a3ee"/>
    <xsd:import namespace="9fd0cb04-fcf8-440d-881a-0996ad6d3e7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6f3aaa-03e1-4470-be20-701b8ac3a3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0cb04-fcf8-440d-881a-0996ad6d3e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47A50D-A686-4CF0-B2A2-0043C34A4E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F6CCC8-92B2-41F4-A437-EC902D2D40E3}">
  <ds:schemaRefs>
    <ds:schemaRef ds:uri="http://schemas.microsoft.com/office/infopath/2007/PartnerControls"/>
    <ds:schemaRef ds:uri="http://purl.org/dc/elements/1.1/"/>
    <ds:schemaRef ds:uri="ad6f3aaa-03e1-4470-be20-701b8ac3a3e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9fd0cb04-fcf8-440d-881a-0996ad6d3e7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BBD4C61-07D5-4DF5-B13D-D199E7CE0018}">
  <ds:schemaRefs>
    <ds:schemaRef ds:uri="9fd0cb04-fcf8-440d-881a-0996ad6d3e7b"/>
    <ds:schemaRef ds:uri="ad6f3aaa-03e1-4470-be20-701b8ac3a3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12724</TotalTime>
  <Words>1032</Words>
  <Application>Microsoft Macintosh PowerPoint</Application>
  <PresentationFormat>Widescreen</PresentationFormat>
  <Paragraphs>170</Paragraphs>
  <Slides>37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CustomFont</vt:lpstr>
      <vt:lpstr>SailPoint 2016 Template</vt:lpstr>
      <vt:lpstr>Building Access in IdentityNow</vt:lpstr>
      <vt:lpstr>Identity Model Components</vt:lpstr>
      <vt:lpstr>PowerPoint Presentation</vt:lpstr>
      <vt:lpstr>Reading from Leading HR Source</vt:lpstr>
      <vt:lpstr>Building Identities</vt:lpstr>
      <vt:lpstr>Identity Profiles</vt:lpstr>
      <vt:lpstr>Identity Profile Settings</vt:lpstr>
      <vt:lpstr>Identity Profile Settings</vt:lpstr>
      <vt:lpstr>Identity Profile Mappings</vt:lpstr>
      <vt:lpstr>Identity Preview</vt:lpstr>
      <vt:lpstr>Administrative View of an Identity</vt:lpstr>
      <vt:lpstr>Search View of an Identity</vt:lpstr>
      <vt:lpstr>Public View of an Identity</vt:lpstr>
      <vt:lpstr>Read Accounts (other) Correlation to Identities</vt:lpstr>
      <vt:lpstr>Access Model Components</vt:lpstr>
      <vt:lpstr>PowerPoint Presentation</vt:lpstr>
      <vt:lpstr>Read Entitlements from Sources</vt:lpstr>
      <vt:lpstr>PowerPoint Presentation</vt:lpstr>
      <vt:lpstr>PowerPoint Presentation</vt:lpstr>
      <vt:lpstr>PowerPoint Presentation</vt:lpstr>
      <vt:lpstr>PowerPoint Presentation</vt:lpstr>
      <vt:lpstr>Role Concept &amp;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Profiles and Roles</vt:lpstr>
      <vt:lpstr>PowerPoint Presentation</vt:lpstr>
      <vt:lpstr>Access Profiles, Roles, Sources &amp; Lifecycle States</vt:lpstr>
      <vt:lpstr>Each ONE Identity can</vt:lpstr>
      <vt:lpstr>Authorizations model</vt:lpstr>
      <vt:lpstr>Building Blocks</vt:lpstr>
      <vt:lpstr>Building Blocks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Program</dc:title>
  <dc:creator>Michael Briand</dc:creator>
  <cp:lastModifiedBy>Dirk Jahn</cp:lastModifiedBy>
  <cp:revision>46</cp:revision>
  <dcterms:created xsi:type="dcterms:W3CDTF">2021-01-27T20:21:06Z</dcterms:created>
  <dcterms:modified xsi:type="dcterms:W3CDTF">2022-12-12T12:27:28Z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0x010100DEE2FE48F2194944AA6D6DBB5E57BE9D</vt:lpwstr>
  </property>
</Properties>
</file>